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E6EDF3"/>
                </a:solidFill>
                <a:latin typeface="Calibri"/>
              </a:rPr>
              <a:t>SQL Security ·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7D8590"/>
                </a:solidFill>
                <a:latin typeface="Calibri"/>
              </a:rPr>
              <a:t>NL-запрос → безопасный PostgreSQL-SQL с аудитом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7D8590"/>
                </a:solidFill>
                <a:latin typeface="Calibri"/>
              </a:rPr>
              <a:t>МФТИ Практикум 2026 · Case 3 · GreenData · Команда из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F81F7"/>
                </a:solidFill>
                <a:latin typeface="Calibri"/>
              </a:rPr>
              <a:t>Walking skeleton · Reflexion-loop · Hybrid auditor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>
                <a:solidFill>
                  <a:srgbClr val="E6EDF3"/>
                </a:solidFill>
                <a:latin typeface="Calibri"/>
              </a:rPr>
              <a:t>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7D8590"/>
                </a:solidFill>
                <a:latin typeface="Calibri"/>
              </a:rPr>
              <a:t>Требование ТЗ от заказчика (GreenData)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73152" cy="2286000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E6EDF3"/>
                </a:solidFill>
                <a:latin typeface="Calibri"/>
              </a:rPr>
              <a:t>Что делаем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512064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7D8590"/>
                </a:solidFill>
                <a:latin typeface="Calibri"/>
              </a:rPr>
              <a:t>• На вход: NL-запрос на русском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• На выходе: PostgreSQL-SQL + audit_log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• Схема заказчика: 60 таблиц (срез реальной БД)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• Цикл: до 5 итераций, порог риска 4.0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• Артефакт системы — SQL+лог, не результат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48640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73152" cy="228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E6EDF3"/>
                </a:solidFill>
                <a:latin typeface="Calibri"/>
              </a:rPr>
              <a:t>Что НЕ делаем (по ТЗ)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512064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7D8590"/>
                </a:solidFill>
                <a:latin typeface="Calibri"/>
              </a:rPr>
              <a:t>• Не исполняем сгенерированный SQL на проде заказчика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• Не лезем в БД заказчика для интроспекции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• Не модифицируем данные ни в каком режиме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• Решение «запускать или нет» принимает заказчик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11247120" cy="2377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73152" cy="237744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E6EDF3"/>
                </a:solidFill>
                <a:latin typeface="Calibri"/>
              </a:rPr>
              <a:t>9 классов уязвимостей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108813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7D8590"/>
                </a:solidFill>
                <a:latin typeface="Calibri"/>
              </a:rPr>
              <a:t>SQL_INJ_CLASSIC · SQL_INJ_UNION · SQL_INJ_TIME · DML_NO_WHERE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PRIV_ESCALATE · PLPGSQL_UNSAFE · DIRECT_SENSITIVE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SELECT_STAR · NO_PAGINATION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/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Аудитор должен ловить все девять. Бонус: PLPGSQL_UNSAFE — динамический SQL внутри функций (отдельная семантика).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>
                <a:solidFill>
                  <a:srgbClr val="E6EDF3"/>
                </a:solidFill>
                <a:latin typeface="Calibri"/>
              </a:rPr>
              <a:t>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7D8590"/>
                </a:solidFill>
                <a:latin typeface="Calibri"/>
              </a:rPr>
              <a:t>Шесть компонентов, поток слева→направо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rg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>
                <a:solidFill>
                  <a:srgbClr val="E6EDF3"/>
                </a:solidFill>
                <a:latin typeface="Calibri"/>
              </a:rPr>
              <a:t>Цикл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7D8590"/>
                </a:solidFill>
                <a:latin typeface="Calibri"/>
              </a:rPr>
              <a:t>Reflexion-loop без обучения весов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66160" cy="4572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73152" cy="4572000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E6EDF3"/>
                </a:solidFill>
                <a:latin typeface="Calibri"/>
              </a:rPr>
              <a:t>1. Генератор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200400" cy="3840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7D8590"/>
                </a:solidFill>
                <a:latin typeface="Calibri"/>
              </a:rPr>
              <a:t>Qwen2.5-Coder-32B-Instruct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/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Вход: NL + срез схемы (FAISS top-15 + FK) + few-shot + уроки прошлых итераций.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/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Выход: SQL.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/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Сейчас: реальный LLM через OpenAI-compat (OpenRouter / vLLM / Colab).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3566160" cy="4572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73152" cy="45720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E6EDF3"/>
                </a:solidFill>
                <a:latin typeface="Calibri"/>
              </a:rPr>
              <a:t>2. Судья (гибрид)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40280"/>
            <a:ext cx="3200400" cy="3840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7D8590"/>
                </a:solidFill>
                <a:latin typeface="Calibri"/>
              </a:rPr>
              <a:t>Phase 1: правила (regex/pglast) + sensitive-детектор (Luhn, СНИЛС, регэксы PII).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/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Phase 1.5: CodeBERT-классификатор (бонус).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/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Phase 2: LLM-судья (Qwen-7B) + RAG (CWE/CAPEC/OWASP).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/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Агрегатор: risk = MAX. Порог 4.0.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3566160" cy="4572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73152" cy="457200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E6EDF3"/>
                </a:solidFill>
                <a:latin typeface="Calibri"/>
              </a:rPr>
              <a:t>3. Reflector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40280"/>
            <a:ext cx="3200400" cy="3840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7D8590"/>
                </a:solidFill>
                <a:latin typeface="Calibri"/>
              </a:rPr>
              <a:t>findings судьи → урок (Lesson).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/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Урок инжектится в промпт генератора на следующей итерации — модель адресно исправляет ошибку.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/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Окно 5 уроков · дедуп по rule_id · fallback из description если шаблона нет.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/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In-context, без обучения весов.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>
                <a:solidFill>
                  <a:srgbClr val="E6EDF3"/>
                </a:solidFill>
                <a:latin typeface="Calibri"/>
              </a:rPr>
              <a:t>Статус компонентов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7D8590"/>
                </a:solidFill>
                <a:latin typeface="Calibri"/>
              </a:rPr>
              <a:t>Walking skeleton: заглушки заменяются по одному, цикл всегда работает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1247120" cy="38404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55064"/>
            <a:ext cx="7589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E6EDF3"/>
                </a:solidFill>
                <a:latin typeface="Calibri"/>
              </a:rPr>
              <a:t>Оркестратор + цикл + контракты + датасет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55064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3FB950"/>
                </a:solidFill>
                <a:latin typeface="Calibri"/>
              </a:rPr>
              <a:t>Готово · Участник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39112"/>
            <a:ext cx="7589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E6EDF3"/>
                </a:solidFill>
                <a:latin typeface="Calibri"/>
              </a:rPr>
              <a:t>Schema models · FK-closure · карточки таблиц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39112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3FB950"/>
                </a:solidFill>
                <a:latin typeface="Calibri"/>
              </a:rPr>
              <a:t>Готово · Участник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68296"/>
            <a:ext cx="11247120" cy="38404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7589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E6EDF3"/>
                </a:solidFill>
                <a:latin typeface="Calibri"/>
              </a:rPr>
              <a:t>DDL-парсер (полный AST через pglast)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2316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D29922"/>
                </a:solidFill>
                <a:latin typeface="Calibri"/>
              </a:rPr>
              <a:t>Заглушка · Участник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7589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E6EDF3"/>
                </a:solidFill>
                <a:latin typeface="Calibri"/>
              </a:rPr>
              <a:t>Эмбеддинги + FAISS + schema linking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807208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7D8590"/>
                </a:solidFill>
                <a:latin typeface="Calibri"/>
              </a:rPr>
              <a:t>Не написано · Участник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36392"/>
            <a:ext cx="11247120" cy="38404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91256"/>
            <a:ext cx="7589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E6EDF3"/>
                </a:solidFill>
                <a:latin typeface="Calibri"/>
              </a:rPr>
              <a:t>Генератор-LLM (промпты, few-shot, retrieval)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91256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3FB950"/>
                </a:solidFill>
                <a:latin typeface="Calibri"/>
              </a:rPr>
              <a:t>Готово · Участник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75304"/>
            <a:ext cx="7589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E6EDF3"/>
                </a:solidFill>
                <a:latin typeface="Calibri"/>
              </a:rPr>
              <a:t>Reflector (deterministic templates + fallback)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575304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3FB950"/>
                </a:solidFill>
                <a:latin typeface="Calibri"/>
              </a:rPr>
              <a:t>Готово · Участник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04488"/>
            <a:ext cx="11247120" cy="38404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59352"/>
            <a:ext cx="7589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E6EDF3"/>
                </a:solidFill>
                <a:latin typeface="Calibri"/>
              </a:rPr>
              <a:t>Phase 1 правила (R001-R013)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959352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D29922"/>
                </a:solidFill>
                <a:latin typeface="Calibri"/>
              </a:rPr>
              <a:t>Заглушка · Участник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43400"/>
            <a:ext cx="7589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E6EDF3"/>
                </a:solidFill>
                <a:latin typeface="Calibri"/>
              </a:rPr>
              <a:t>Sensitive-детектор (Luhn, СНИЛС, регэкс)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34340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D29922"/>
                </a:solidFill>
                <a:latin typeface="Calibri"/>
              </a:rPr>
              <a:t>Заглушка · Участник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72584"/>
            <a:ext cx="11247120" cy="38404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27448"/>
            <a:ext cx="7589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E6EDF3"/>
                </a:solidFill>
                <a:latin typeface="Calibri"/>
              </a:rPr>
              <a:t>Phase 1.5 CodeBERT + Phase 2 LLM-судья + RAG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727448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7D8590"/>
                </a:solidFill>
                <a:latin typeface="Calibri"/>
              </a:rPr>
              <a:t>Не написано · Участник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11496"/>
            <a:ext cx="7589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E6EDF3"/>
                </a:solidFill>
                <a:latin typeface="Calibri"/>
              </a:rPr>
              <a:t>Инфра: Prometheus + Grafana + Langfuse + БД-стаб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111496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3FB950"/>
                </a:solidFill>
                <a:latin typeface="Calibri"/>
              </a:rPr>
              <a:t>Готово · Участник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40680"/>
            <a:ext cx="11247120" cy="38404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495544"/>
            <a:ext cx="7589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E6EDF3"/>
                </a:solidFill>
                <a:latin typeface="Calibri"/>
              </a:rPr>
              <a:t>Frontend (FastAPI SSR + SSE-стрим)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495544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3FB950"/>
                </a:solidFill>
                <a:latin typeface="Calibri"/>
              </a:rPr>
              <a:t>Готово · Участник 4 / Уч.1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879592"/>
            <a:ext cx="7589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0">
                <a:solidFill>
                  <a:srgbClr val="E6EDF3"/>
                </a:solidFill>
                <a:latin typeface="Calibri"/>
              </a:rPr>
              <a:t>Тесты (pytest, 141 тестов, покрытие 62%)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879592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3FB950"/>
                </a:solidFill>
                <a:latin typeface="Calibri"/>
              </a:rPr>
              <a:t>Готово · Участник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>
                <a:solidFill>
                  <a:srgbClr val="E6EDF3"/>
                </a:solidFill>
                <a:latin typeface="Calibri"/>
              </a:rPr>
              <a:t>Web-UI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7D8590"/>
                </a:solidFill>
                <a:latin typeface="Calibri"/>
              </a:rPr>
              <a:t>Tab Аудит · Live-стрим SSE · 3-state вердикт · песочница demo_db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solidFill>
            <a:srgbClr val="0D1117"/>
          </a:solidFill>
          <a:ln w="25400">
            <a:solidFill>
              <a:srgbClr val="2F81F7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F81F7"/>
                </a:solidFill>
                <a:latin typeface="Calibri"/>
              </a:rPr>
              <a:t>[ ВСТАВИТЬ СКРИНШОТ: UI · localhost:18000 ]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7D8590"/>
                </a:solidFill>
                <a:latin typeface="Calibri"/>
              </a:rPr>
              <a:t>(рамка-заглушка — замени картинкой в PowerPoint)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>
                <a:solidFill>
                  <a:srgbClr val="E6EDF3"/>
                </a:solidFill>
                <a:latin typeface="Calibri"/>
              </a:rPr>
              <a:t>Каталог уязвимостей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7D8590"/>
                </a:solidFill>
                <a:latin typeface="Calibri"/>
              </a:rPr>
              <a:t>9 карточек: класс · risk · пример SQL · «прогнать через аудит»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solidFill>
            <a:srgbClr val="0D1117"/>
          </a:solidFill>
          <a:ln w="25400">
            <a:solidFill>
              <a:srgbClr val="2F81F7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F81F7"/>
                </a:solidFill>
                <a:latin typeface="Calibri"/>
              </a:rPr>
              <a:t>[ ВСТАВИТЬ СКРИНШОТ: Вкладка «Уязвимости» в UI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7D8590"/>
                </a:solidFill>
                <a:latin typeface="Calibri"/>
              </a:rPr>
              <a:t>(рамка-заглушка — замени картинкой в PowerPoint)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>
                <a:solidFill>
                  <a:srgbClr val="E6EDF3"/>
                </a:solidFill>
                <a:latin typeface="Calibri"/>
              </a:rPr>
              <a:t>Наблюдаемость · Langfuse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7D8590"/>
                </a:solidFill>
                <a:latin typeface="Calibri"/>
              </a:rPr>
              <a:t>Трейсы LLM-цепочек: spans generate/audit/reflect, scores final_risk и approved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solidFill>
            <a:srgbClr val="0D1117"/>
          </a:solidFill>
          <a:ln w="25400">
            <a:solidFill>
              <a:srgbClr val="2F81F7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F81F7"/>
                </a:solidFill>
                <a:latin typeface="Calibri"/>
              </a:rPr>
              <a:t>[ ВСТАВИТЬ СКРИНШОТ: Langfuse trace · localhost:13001 ]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7D8590"/>
                </a:solidFill>
                <a:latin typeface="Calibri"/>
              </a:rPr>
              <a:t>(рамка-заглушка — замени картинкой в PowerPoint)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>
                <a:solidFill>
                  <a:srgbClr val="E6EDF3"/>
                </a:solidFill>
                <a:latin typeface="Calibri"/>
              </a:rPr>
              <a:t>Метрики · Grafana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0">
                <a:solidFill>
                  <a:srgbClr val="7D8590"/>
                </a:solidFill>
                <a:latin typeface="Calibri"/>
              </a:rPr>
              <a:t>sqlsec_runs_total · sqlsec_iterations · sqlsec_last_risk · sqlsec_findings_total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solidFill>
            <a:srgbClr val="0D1117"/>
          </a:solidFill>
          <a:ln w="25400">
            <a:solidFill>
              <a:srgbClr val="2F81F7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F81F7"/>
                </a:solidFill>
                <a:latin typeface="Calibri"/>
              </a:rPr>
              <a:t>[ ВСТАВИТЬ СКРИНШОТ: Grafana dashboard · localhost:13000 ]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7D8590"/>
                </a:solidFill>
                <a:latin typeface="Calibri"/>
              </a:rPr>
              <a:t>(рамка-заглушка — замени картинкой в PowerPoint)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000" b="1">
                <a:solidFill>
                  <a:srgbClr val="E6EDF3"/>
                </a:solidFill>
                <a:latin typeface="Calibri"/>
              </a:rPr>
              <a:t>Команда и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8288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73152" cy="2286000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E6EDF3"/>
                </a:solidFill>
                <a:latin typeface="Calibri"/>
              </a:rPr>
              <a:t>4 человека · зоны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12064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7D8590"/>
                </a:solidFill>
                <a:latin typeface="Calibri"/>
              </a:rPr>
              <a:t>Участник 1 — DDL-парсер · схема · фронтенд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Участник 2 — аудитор (Phase 1/1.5/2) · RAG · sensitive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Участник 3 — LLM (генератор · reflector · промпты)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Участник 4 — оркестратор · контракты · датасет · инфра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48640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73152" cy="22860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E6EDF3"/>
                </a:solidFill>
                <a:latin typeface="Calibri"/>
              </a:rPr>
              <a:t>Что закрыто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512064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7D8590"/>
                </a:solidFill>
                <a:latin typeface="Calibri"/>
              </a:rPr>
              <a:t>• E2E-цикл NL → SQL → audit, видимый в Live-стриме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• Reflexion-loop с адресными уроками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• Аналитический прогноз времени (EXPLAIN cost) + калибровка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• Песочница demo_db (60 таблиц · faker)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• 141 тест pytest, покрытие 62%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1247120" cy="2377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73152" cy="237744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E6EDF3"/>
                </a:solidFill>
                <a:latin typeface="Calibri"/>
              </a:rPr>
              <a:t>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108813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7D8590"/>
                </a:solidFill>
                <a:latin typeface="Calibri"/>
              </a:rPr>
              <a:t>• Доточить правила Phase 1 (Уч.2): SQL_INJ tautology, обфускация через AST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• CodeBERT-классификатор и LLM-судья — Phase 1.5/2 ещё не реализованы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• Реальный DDL-парсер pglast + эмбеддинги + FAISS (Уч.1)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• LangGraph + PostgresSaver вместо Python-цикла (Уч.4)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• Калибровка cost→ms на собранных от юзеров отчётах</a:t>
            </a:r>
          </a:p>
          <a:p>
            <a:r>
              <a:rPr sz="1200" b="0">
                <a:solidFill>
                  <a:srgbClr val="7D8590"/>
                </a:solidFill>
                <a:latin typeface="Calibri"/>
              </a:rPr>
              <a:t>• Fine-tune генератора на back-translation датасете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