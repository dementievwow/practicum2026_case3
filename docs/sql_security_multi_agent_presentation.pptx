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72" r:id="rId15"/>
    <p:sldId id="27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D3C5"/>
    <a:srgbClr val="07111F"/>
    <a:srgbClr val="A78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45" d="100"/>
          <a:sy n="145" d="100"/>
        </p:scale>
        <p:origin x="-18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92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3CA1-EA23-8E5F-8FB7-20075663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4F51B-DEC4-D867-DD37-3416FB849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802B8-6ABD-07AC-ABA8-9D98FB50C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6A1D8-4A80-A59D-10B0-2818EE624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84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F3B54-3D03-3604-8F1A-A4436119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854DD-1DA4-9301-3346-1A2A61EB2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8C7DF-8713-3A2D-83D2-647FE4C82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29ED9-FFAE-48D6-A5AD-4C57B8715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46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5623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Security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Multi‑Agent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13232" y="23957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2E3"/>
                </a:solidFill>
              </a:rPr>
              <a:t>NL‑запрос → безопасный PostgreSQL‑SQL с аудитом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2971800"/>
            <a:ext cx="1508760" cy="310896"/>
          </a:xfrm>
          <a:prstGeom prst="rect">
            <a:avLst/>
          </a:prstGeom>
          <a:solidFill>
            <a:srgbClr val="0F2034"/>
          </a:solidFill>
          <a:ln>
            <a:solidFill>
              <a:srgbClr val="38BDF8">
                <a:alpha val="7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GreenData Case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77440" y="2971800"/>
            <a:ext cx="1508760" cy="310896"/>
          </a:xfrm>
          <a:prstGeom prst="rect">
            <a:avLst/>
          </a:prstGeom>
          <a:solidFill>
            <a:srgbClr val="0F2034"/>
          </a:solidFill>
          <a:ln>
            <a:solidFill>
              <a:srgbClr val="F43F5E">
                <a:alpha val="7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auditor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41648" y="2971800"/>
            <a:ext cx="1572768" cy="310896"/>
          </a:xfrm>
          <a:prstGeom prst="rect">
            <a:avLst/>
          </a:prstGeom>
          <a:solidFill>
            <a:srgbClr val="0F2034"/>
          </a:solidFill>
          <a:ln>
            <a:solidFill>
              <a:srgbClr val="A78BFA">
                <a:alpha val="7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Reflection‑loop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29400" y="960120"/>
            <a:ext cx="4572000" cy="4206240"/>
          </a:xfrm>
          <a:prstGeom prst="rect">
            <a:avLst/>
          </a:prstGeom>
          <a:solidFill>
            <a:srgbClr val="0A1020"/>
          </a:solidFill>
          <a:ln>
            <a:solidFill>
              <a:srgbClr val="36506E"/>
            </a:solidFill>
          </a:ln>
        </p:spPr>
        <p:txBody>
          <a:bodyPr wrap="square" lIns="3175" tIns="3175" rIns="3175" bIns="3175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Покажи топ договоров по сумме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id, credit_amount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credit_contract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credit_amount DESC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audit: approved · risk 0.0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artifact: SQL + audit_log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13232" y="6153912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1B9"/>
                </a:solidFill>
              </a:rPr>
              <a:t>МФТИ Практикум 2026 · команда </a:t>
            </a:r>
            <a:r>
              <a:rPr lang="ru-RU" sz="1200" dirty="0">
                <a:solidFill>
                  <a:srgbClr val="8EA1B9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Команда проекта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1994" y="114916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EA1B9"/>
                </a:solidFill>
              </a:rPr>
              <a:t>Четыре зоны ответственности — один сквозной security pipeline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13019" y="2157984"/>
            <a:ext cx="1422308" cy="1659045"/>
          </a:xfrm>
          <a:prstGeom prst="rect">
            <a:avLst/>
          </a:prstGeom>
          <a:solidFill>
            <a:srgbClr val="101B2E"/>
          </a:solidFill>
          <a:ln>
            <a:solidFill>
              <a:srgbClr val="38BDF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0085" y="4057305"/>
            <a:ext cx="2157984" cy="28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AF2FF"/>
                </a:solidFill>
              </a:rPr>
              <a:t>Серафим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1040" y="4480647"/>
            <a:ext cx="2256074" cy="629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1B9"/>
                </a:solidFill>
              </a:rPr>
              <a:t>Schema layer · DDL parser · frontend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83852" y="5224357"/>
            <a:ext cx="490451" cy="45767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57634" y="2157984"/>
            <a:ext cx="1422308" cy="1659045"/>
          </a:xfrm>
          <a:prstGeom prst="rect">
            <a:avLst/>
          </a:prstGeom>
          <a:solidFill>
            <a:srgbClr val="101B2E"/>
          </a:solidFill>
          <a:ln>
            <a:solidFill>
              <a:srgbClr val="F43F5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94700" y="4057305"/>
            <a:ext cx="2157984" cy="28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AF2FF"/>
                </a:solidFill>
              </a:rPr>
              <a:t>Григорий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45655" y="4480647"/>
            <a:ext cx="2256074" cy="629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1B9"/>
                </a:solidFill>
              </a:rPr>
              <a:t>Security auditor · rules · sensitive detector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28467" y="5224357"/>
            <a:ext cx="490451" cy="45767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02249" y="2157984"/>
            <a:ext cx="1422308" cy="1659045"/>
          </a:xfrm>
          <a:prstGeom prst="rect">
            <a:avLst/>
          </a:prstGeom>
          <a:solidFill>
            <a:srgbClr val="101B2E"/>
          </a:solidFill>
          <a:ln>
            <a:solidFill>
              <a:srgbClr val="A78B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9315" y="4057305"/>
            <a:ext cx="2157984" cy="28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AF2FF"/>
                </a:solidFill>
              </a:rPr>
              <a:t>Алена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90270" y="4480647"/>
            <a:ext cx="2256074" cy="629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1B9"/>
                </a:solidFill>
              </a:rPr>
              <a:t>LLM SQL generator · prompt · reflection‑loop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73082" y="5224357"/>
            <a:ext cx="490451" cy="45767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46864" y="2157984"/>
            <a:ext cx="1422308" cy="1659045"/>
          </a:xfrm>
          <a:prstGeom prst="rect">
            <a:avLst/>
          </a:prstGeom>
          <a:solidFill>
            <a:srgbClr val="101B2E"/>
          </a:solidFill>
          <a:ln>
            <a:solidFill>
              <a:srgbClr val="2DD4B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3930" y="4057305"/>
            <a:ext cx="2157984" cy="28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AF2FF"/>
                </a:solidFill>
              </a:rPr>
              <a:t>Михаил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234885" y="4480647"/>
            <a:ext cx="2256074" cy="629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1B9"/>
                </a:solidFill>
              </a:rPr>
              <a:t>Orchestrator · dataset · infra · observability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17697" y="5224357"/>
            <a:ext cx="490451" cy="45767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1B9"/>
                </a:solidFill>
              </a:rPr>
              <a:t>02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D89E794-7EFF-E1D2-46CD-23BB135930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224" b="359"/>
          <a:stretch>
            <a:fillRect/>
          </a:stretch>
        </p:blipFill>
        <p:spPr>
          <a:xfrm>
            <a:off x="1111883" y="2163948"/>
            <a:ext cx="1423065" cy="16530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8419A71-B6F9-C1BD-AADB-FB7A78D9D2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417"/>
          <a:stretch>
            <a:fillRect/>
          </a:stretch>
        </p:blipFill>
        <p:spPr>
          <a:xfrm>
            <a:off x="3976182" y="2157984"/>
            <a:ext cx="1403760" cy="165308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7A3F041-DD71-A36B-17BE-4B7AF9850B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7" b="12323"/>
          <a:stretch>
            <a:fillRect/>
          </a:stretch>
        </p:blipFill>
        <p:spPr>
          <a:xfrm>
            <a:off x="9646864" y="2163948"/>
            <a:ext cx="1414087" cy="164711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FD48494-536C-386E-723D-053E48EB6BA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2972"/>
          <a:stretch>
            <a:fillRect/>
          </a:stretch>
        </p:blipFill>
        <p:spPr>
          <a:xfrm>
            <a:off x="6802249" y="2159148"/>
            <a:ext cx="1422307" cy="16519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Задача: NL→SQL, но под контролем безопасности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EA1B9"/>
                </a:solidFill>
              </a:rPr>
              <a:t>Система возвращает SQL + audit_log; execution на production остаётся на стороне заказчика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3142" y="1897380"/>
            <a:ext cx="4663440" cy="3063240"/>
          </a:xfrm>
          <a:prstGeom prst="rect">
            <a:avLst/>
          </a:prstGeom>
          <a:solidFill>
            <a:srgbClr val="020617"/>
          </a:solidFill>
          <a:ln>
            <a:solidFill>
              <a:srgbClr val="1E293B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Пользователь: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«Покажи все данные клиентов»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Наивный LLM: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 FROM clients;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Риск: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sensitive‑поля · широкая выгрузка · нет LIMIT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1956" y="1897380"/>
            <a:ext cx="4800600" cy="3063240"/>
          </a:xfrm>
          <a:prstGeom prst="rect">
            <a:avLst/>
          </a:prstGeom>
          <a:solidFill>
            <a:srgbClr val="101B2E"/>
          </a:solidFill>
          <a:ln>
            <a:solidFill>
              <a:srgbClr val="36506E"/>
            </a:solidFill>
          </a:ln>
        </p:spPr>
        <p:txBody>
          <a:bodyPr wrap="square" lIns="3556" tIns="3556" rIns="3556" bIns="3556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фиксирует система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lvl="1"/>
            <a:r>
              <a:rPr lang="en-US" sz="130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одобренный SQL или rejected‑результат</a:t>
            </a:r>
            <a:endParaRPr lang="en-US" sz="1300" dirty="0"/>
          </a:p>
          <a:p>
            <a:pPr lvl="1"/>
            <a:r>
              <a:rPr lang="en-US" sz="130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полный audit_log по итерациям</a:t>
            </a:r>
            <a:endParaRPr lang="en-US" sz="1300" dirty="0"/>
          </a:p>
          <a:p>
            <a:pPr lvl="1"/>
            <a:r>
              <a:rPr lang="en-US" sz="130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risk_score по шкале 0–10</a:t>
            </a:r>
            <a:endParaRPr lang="en-US" sz="1300" dirty="0"/>
          </a:p>
          <a:p>
            <a:pPr lvl="1"/>
            <a:r>
              <a:rPr lang="en-US" sz="130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объяснение findings и рекомендации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ТЗ: не исполняем SQL на проде заказчика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1B9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 решения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4209" y="10789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EA1B9"/>
                </a:solidFill>
              </a:rPr>
              <a:t>Гибрид: LLM‑генератор + аудитор + rules + RAG + observability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56795" y="3360277"/>
            <a:ext cx="1412472" cy="246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</a:rPr>
              <a:t>finding → Lesson → next prompt</a:t>
            </a:r>
            <a:endParaRPr lang="en-US" sz="8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BC7B93B-723E-3BEE-38C4-4B65709D4963}"/>
              </a:ext>
            </a:extLst>
          </p:cNvPr>
          <p:cNvGrpSpPr/>
          <p:nvPr/>
        </p:nvGrpSpPr>
        <p:grpSpPr>
          <a:xfrm>
            <a:off x="1409700" y="5407731"/>
            <a:ext cx="9372600" cy="731520"/>
            <a:chOff x="1143000" y="5074920"/>
            <a:chExt cx="9372600" cy="731520"/>
          </a:xfrm>
        </p:grpSpPr>
        <p:sp>
          <p:nvSpPr>
            <p:cNvPr id="19" name="Text 17"/>
            <p:cNvSpPr/>
            <p:nvPr/>
          </p:nvSpPr>
          <p:spPr>
            <a:xfrm>
              <a:off x="1143000" y="507492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A78BFA"/>
                  </a:solidFill>
                </a:rPr>
                <a:t>5</a:t>
              </a:r>
              <a:endParaRPr lang="en-US" sz="2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143000" y="548640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8EA1B9"/>
                  </a:solidFill>
                </a:rPr>
                <a:t>max iterations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063240" y="507492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59E0B"/>
                  </a:solidFill>
                </a:rPr>
                <a:t>4.0</a:t>
              </a:r>
              <a:endParaRPr lang="en-US" sz="2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063240" y="548640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8EA1B9"/>
                  </a:solidFill>
                </a:rPr>
                <a:t>risk threshold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983480" y="507492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8BDF8"/>
                  </a:solidFill>
                </a:rPr>
                <a:t>0–10</a:t>
              </a:r>
              <a:endParaRPr lang="en-US" sz="2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983480" y="548640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8EA1B9"/>
                  </a:solidFill>
                </a:rPr>
                <a:t>risk scale</a:t>
              </a:r>
              <a:endParaRPr lang="en-US" sz="1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903720" y="507492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43F5E"/>
                  </a:solidFill>
                </a:rPr>
                <a:t>MAX</a:t>
              </a:r>
              <a:endParaRPr lang="en-US" sz="24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903720" y="548640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8EA1B9"/>
                  </a:solidFill>
                </a:rPr>
                <a:t>risk aggregation</a:t>
              </a:r>
              <a:endParaRPr lang="en-US" sz="14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823960" y="5074920"/>
              <a:ext cx="16916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DD4BF"/>
                  </a:solidFill>
                </a:rPr>
                <a:t>trace</a:t>
              </a:r>
              <a:endParaRPr lang="en-US" sz="2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823960" y="5486400"/>
              <a:ext cx="16916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8EA1B9"/>
                  </a:solidFill>
                </a:rPr>
                <a:t>Langfuse + audit log</a:t>
              </a:r>
              <a:endParaRPr lang="en-US" sz="140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1B9"/>
                </a:solidFill>
              </a:rPr>
              <a:t>04</a:t>
            </a:r>
            <a:endParaRPr lang="en-US" sz="9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DB21204-4329-8DD3-D43F-239CE35D820D}"/>
              </a:ext>
            </a:extLst>
          </p:cNvPr>
          <p:cNvGrpSpPr/>
          <p:nvPr/>
        </p:nvGrpSpPr>
        <p:grpSpPr>
          <a:xfrm>
            <a:off x="491039" y="1810512"/>
            <a:ext cx="11207318" cy="3310128"/>
            <a:chOff x="491039" y="1810512"/>
            <a:chExt cx="11037938" cy="284021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9F544E0-94D4-1EDC-4F80-9B13E91FE5E9}"/>
                </a:ext>
              </a:extLst>
            </p:cNvPr>
            <p:cNvGrpSpPr/>
            <p:nvPr/>
          </p:nvGrpSpPr>
          <p:grpSpPr>
            <a:xfrm>
              <a:off x="640080" y="2551176"/>
              <a:ext cx="10888897" cy="1152144"/>
              <a:chOff x="548640" y="2057400"/>
              <a:chExt cx="10076688" cy="621792"/>
            </a:xfrm>
          </p:grpSpPr>
          <p:sp>
            <p:nvSpPr>
              <p:cNvPr id="6" name="Text 4"/>
              <p:cNvSpPr/>
              <p:nvPr/>
            </p:nvSpPr>
            <p:spPr>
              <a:xfrm>
                <a:off x="548640" y="2057400"/>
                <a:ext cx="914400" cy="621792"/>
              </a:xfrm>
              <a:prstGeom prst="rect">
                <a:avLst/>
              </a:prstGeom>
              <a:solidFill>
                <a:srgbClr val="0F2034"/>
              </a:solidFill>
              <a:ln>
                <a:solidFill>
                  <a:srgbClr val="38BDF8">
                    <a:alpha val="80000"/>
                  </a:srgbClr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EAF2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NL task</a:t>
                </a:r>
                <a:endParaRPr lang="en-US" sz="1050" dirty="0"/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1508760" y="2368296"/>
                <a:ext cx="640080" cy="0"/>
              </a:xfrm>
              <a:prstGeom prst="line">
                <a:avLst/>
              </a:prstGeom>
              <a:noFill/>
              <a:ln w="17145">
                <a:solidFill>
                  <a:srgbClr val="8EA1B9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2148840" y="2057400"/>
                <a:ext cx="1143000" cy="621792"/>
              </a:xfrm>
              <a:prstGeom prst="rect">
                <a:avLst/>
              </a:prstGeom>
              <a:solidFill>
                <a:srgbClr val="0F2034"/>
              </a:solidFill>
              <a:ln>
                <a:solidFill>
                  <a:srgbClr val="22D3EE">
                    <a:alpha val="80000"/>
                  </a:srgbClr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EAF2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Schema</a:t>
                </a:r>
                <a:endParaRPr lang="en-US" sz="1050" dirty="0"/>
              </a:p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EAF2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linking</a:t>
                </a:r>
                <a:endParaRPr lang="en-US" sz="1050" dirty="0"/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3337560" y="2368296"/>
                <a:ext cx="640080" cy="0"/>
              </a:xfrm>
              <a:prstGeom prst="line">
                <a:avLst/>
              </a:prstGeom>
              <a:noFill/>
              <a:ln w="17145">
                <a:solidFill>
                  <a:srgbClr val="8EA1B9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3977640" y="2057400"/>
                <a:ext cx="1143000" cy="621792"/>
              </a:xfrm>
              <a:prstGeom prst="rect">
                <a:avLst/>
              </a:prstGeom>
              <a:solidFill>
                <a:srgbClr val="0F2034"/>
              </a:solidFill>
              <a:ln>
                <a:solidFill>
                  <a:srgbClr val="A78BFA">
                    <a:alpha val="80000"/>
                  </a:srgbClr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EAF2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SQL</a:t>
                </a:r>
                <a:endParaRPr lang="en-US" sz="1050" dirty="0"/>
              </a:p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EAF2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generator</a:t>
                </a:r>
                <a:endParaRPr lang="en-US" sz="1050" dirty="0"/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5166360" y="2368296"/>
                <a:ext cx="640080" cy="0"/>
              </a:xfrm>
              <a:prstGeom prst="line">
                <a:avLst/>
              </a:prstGeom>
              <a:noFill/>
              <a:ln w="17145">
                <a:solidFill>
                  <a:srgbClr val="8EA1B9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5806440" y="2057400"/>
                <a:ext cx="1143000" cy="621792"/>
              </a:xfrm>
              <a:prstGeom prst="rect">
                <a:avLst/>
              </a:prstGeom>
              <a:solidFill>
                <a:srgbClr val="0F2034"/>
              </a:solidFill>
              <a:ln>
                <a:solidFill>
                  <a:srgbClr val="F43F5E">
                    <a:alpha val="80000"/>
                  </a:srgbClr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EAF2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Security</a:t>
                </a:r>
                <a:endParaRPr lang="en-US" sz="1050" dirty="0"/>
              </a:p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EAF2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auditor</a:t>
                </a:r>
                <a:endParaRPr lang="en-US" sz="1050" dirty="0"/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6995160" y="2368296"/>
                <a:ext cx="640080" cy="0"/>
              </a:xfrm>
              <a:prstGeom prst="line">
                <a:avLst/>
              </a:prstGeom>
              <a:noFill/>
              <a:ln w="17145">
                <a:solidFill>
                  <a:srgbClr val="8EA1B9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7635240" y="2057400"/>
                <a:ext cx="960120" cy="621792"/>
              </a:xfrm>
              <a:prstGeom prst="rect">
                <a:avLst/>
              </a:prstGeom>
              <a:solidFill>
                <a:srgbClr val="0F2034"/>
              </a:solidFill>
              <a:ln>
                <a:solidFill>
                  <a:srgbClr val="F59E0B">
                    <a:alpha val="80000"/>
                  </a:srgbClr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EAF2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Risk</a:t>
                </a:r>
                <a:endParaRPr lang="en-US" sz="1050" dirty="0"/>
              </a:p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EAF2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MAX</a:t>
                </a:r>
                <a:endParaRPr lang="en-US" sz="1050" dirty="0"/>
              </a:p>
            </p:txBody>
          </p:sp>
          <p:sp>
            <p:nvSpPr>
              <p:cNvPr id="15" name="Shape 13"/>
              <p:cNvSpPr/>
              <p:nvPr/>
            </p:nvSpPr>
            <p:spPr>
              <a:xfrm>
                <a:off x="8641080" y="2368296"/>
                <a:ext cx="685800" cy="0"/>
              </a:xfrm>
              <a:prstGeom prst="line">
                <a:avLst/>
              </a:prstGeom>
              <a:noFill/>
              <a:ln w="17145">
                <a:solidFill>
                  <a:srgbClr val="8EA1B9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9326880" y="2057400"/>
                <a:ext cx="1298448" cy="621792"/>
              </a:xfrm>
              <a:prstGeom prst="rect">
                <a:avLst/>
              </a:prstGeom>
              <a:solidFill>
                <a:srgbClr val="0F2034"/>
              </a:solidFill>
              <a:ln>
                <a:solidFill>
                  <a:srgbClr val="22C55E">
                    <a:alpha val="80000"/>
                  </a:srgbClr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EAF2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SQL +</a:t>
                </a:r>
                <a:endParaRPr lang="en-US" sz="1050" dirty="0"/>
              </a:p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EAF2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audit_log</a:t>
                </a:r>
                <a:endParaRPr lang="en-US" sz="1050" dirty="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05B4CD-2B53-42A9-7D1F-495070B2DF72}"/>
                </a:ext>
              </a:extLst>
            </p:cNvPr>
            <p:cNvSpPr txBox="1"/>
            <p:nvPr/>
          </p:nvSpPr>
          <p:spPr>
            <a:xfrm>
              <a:off x="491039" y="3912060"/>
              <a:ext cx="128618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50" dirty="0">
                  <a:solidFill>
                    <a:schemeClr val="bg1"/>
                  </a:solidFill>
                </a:rPr>
                <a:t>Запрос пользователя на естественном языке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96177FF-8DBB-E8C3-6EAF-D1E82054906A}"/>
                </a:ext>
              </a:extLst>
            </p:cNvPr>
            <p:cNvSpPr txBox="1"/>
            <p:nvPr/>
          </p:nvSpPr>
          <p:spPr>
            <a:xfrm>
              <a:off x="2343733" y="1810512"/>
              <a:ext cx="1286183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50" dirty="0">
                  <a:solidFill>
                    <a:schemeClr val="bg1"/>
                  </a:solidFill>
                </a:rPr>
                <a:t>Выбор релевантных таблиц и связей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B53F47E-829A-2A4C-9D46-8389D7006F63}"/>
                </a:ext>
              </a:extLst>
            </p:cNvPr>
            <p:cNvSpPr txBox="1"/>
            <p:nvPr/>
          </p:nvSpPr>
          <p:spPr>
            <a:xfrm>
              <a:off x="4256795" y="3908810"/>
              <a:ext cx="141247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50" dirty="0">
                  <a:solidFill>
                    <a:schemeClr val="bg1"/>
                  </a:solidFill>
                </a:rPr>
                <a:t>Генерация </a:t>
              </a:r>
              <a:r>
                <a:rPr lang="en-US" sz="1050" dirty="0">
                  <a:solidFill>
                    <a:schemeClr val="bg1"/>
                  </a:solidFill>
                </a:rPr>
                <a:t>PostgreSQL-</a:t>
              </a:r>
              <a:r>
                <a:rPr lang="ru-RU" sz="1050" dirty="0">
                  <a:solidFill>
                    <a:schemeClr val="bg1"/>
                  </a:solidFill>
                </a:rPr>
                <a:t>запроса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1B6A12C-6761-AD9E-FA1C-1934B86D5292}"/>
                </a:ext>
              </a:extLst>
            </p:cNvPr>
            <p:cNvSpPr txBox="1"/>
            <p:nvPr/>
          </p:nvSpPr>
          <p:spPr>
            <a:xfrm>
              <a:off x="6376510" y="1966513"/>
              <a:ext cx="112545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50" dirty="0">
                  <a:solidFill>
                    <a:schemeClr val="bg1"/>
                  </a:solidFill>
                </a:rPr>
                <a:t>Проверка </a:t>
              </a:r>
              <a:r>
                <a:rPr lang="en-US" sz="1050" dirty="0">
                  <a:solidFill>
                    <a:schemeClr val="bg1"/>
                  </a:solidFill>
                </a:rPr>
                <a:t>SQL </a:t>
              </a:r>
              <a:r>
                <a:rPr lang="ru-RU" sz="1050" dirty="0">
                  <a:solidFill>
                    <a:schemeClr val="bg1"/>
                  </a:solidFill>
                </a:rPr>
                <a:t>на уязвимости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1BA7CF3-8E3F-9225-FC76-6ABC8FDBBE1A}"/>
                </a:ext>
              </a:extLst>
            </p:cNvPr>
            <p:cNvSpPr txBox="1"/>
            <p:nvPr/>
          </p:nvSpPr>
          <p:spPr>
            <a:xfrm>
              <a:off x="8186457" y="3844548"/>
              <a:ext cx="1286183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50" dirty="0">
                  <a:solidFill>
                    <a:schemeClr val="bg1"/>
                  </a:solidFill>
                </a:rPr>
                <a:t>Итоговый риск по самому опасному </a:t>
              </a:r>
              <a:r>
                <a:rPr lang="en-US" sz="1050" dirty="0">
                  <a:solidFill>
                    <a:schemeClr val="bg1"/>
                  </a:solidFill>
                </a:rPr>
                <a:t>finding</a:t>
              </a:r>
              <a:endParaRPr lang="ru-RU" sz="1050" dirty="0">
                <a:solidFill>
                  <a:schemeClr val="bg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F97DDB9-0527-3443-DBDA-28471267181A}"/>
                </a:ext>
              </a:extLst>
            </p:cNvPr>
            <p:cNvSpPr txBox="1"/>
            <p:nvPr/>
          </p:nvSpPr>
          <p:spPr>
            <a:xfrm>
              <a:off x="10184331" y="1880621"/>
              <a:ext cx="1286183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50" dirty="0">
                  <a:solidFill>
                    <a:schemeClr val="bg1"/>
                  </a:solidFill>
                </a:rPr>
                <a:t>Безопасный </a:t>
              </a:r>
              <a:r>
                <a:rPr lang="en-US" sz="1050" dirty="0">
                  <a:solidFill>
                    <a:schemeClr val="bg1"/>
                  </a:solidFill>
                </a:rPr>
                <a:t>SQL </a:t>
              </a:r>
              <a:r>
                <a:rPr lang="ru-RU" sz="1050" dirty="0">
                  <a:solidFill>
                    <a:schemeClr val="bg1"/>
                  </a:solidFill>
                </a:rPr>
                <a:t>и полный лог проверок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05ABC-1DD8-0A29-9B11-6A230B7A6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AD7D3D-71FD-6476-2901-695726668076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9E19EB-57C8-F6CE-9665-850DE0A0DFD3}"/>
              </a:ext>
            </a:extLst>
          </p:cNvPr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0F3F7D-793A-FA1F-0C2F-C3EB13A03A27}"/>
              </a:ext>
            </a:extLst>
          </p:cNvPr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</a:t>
            </a:r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решения</a:t>
            </a:r>
            <a:r>
              <a:rPr lang="ru-RU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(схема)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EB0FBD-0D44-786F-C22D-EFC83A16DCE4}"/>
              </a:ext>
            </a:extLst>
          </p:cNvPr>
          <p:cNvSpPr/>
          <p:nvPr/>
        </p:nvSpPr>
        <p:spPr>
          <a:xfrm>
            <a:off x="654209" y="10789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EA1B9"/>
                </a:solidFill>
              </a:rPr>
              <a:t>Гибрид: LLM‑генератор + аудитор + rules + RAG + observability</a:t>
            </a:r>
            <a:endParaRPr lang="en-US" sz="11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E7FA5D0-3A4F-CA46-7A0C-46189C22BA61}"/>
              </a:ext>
            </a:extLst>
          </p:cNvPr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F1EFF00-8707-5BA7-96F1-921EF2E0E991}"/>
              </a:ext>
            </a:extLst>
          </p:cNvPr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1B9"/>
                </a:solidFill>
              </a:rPr>
              <a:t>0</a:t>
            </a:r>
            <a:r>
              <a:rPr lang="ru-RU" sz="900" dirty="0">
                <a:solidFill>
                  <a:srgbClr val="8EA1B9"/>
                </a:solidFill>
              </a:rPr>
              <a:t>5</a:t>
            </a:r>
            <a:endParaRPr lang="en-US" sz="900" dirty="0"/>
          </a:p>
        </p:txBody>
      </p:sp>
      <p:pic>
        <p:nvPicPr>
          <p:cNvPr id="17" name="Picture 16" descr="target_overview.png">
            <a:extLst>
              <a:ext uri="{FF2B5EF4-FFF2-40B4-BE49-F238E27FC236}">
                <a16:creationId xmlns:a16="http://schemas.microsoft.com/office/drawing/2014/main" id="{EC38C7F3-F421-2E18-E120-A3516A892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35024"/>
            <a:ext cx="1124712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2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Сильные стороны проекта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EA1B9"/>
                </a:solidFill>
              </a:rPr>
              <a:t>Не просто генерация SQL, а управляемый контур безопасности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063240" cy="1572768"/>
          </a:xfrm>
          <a:prstGeom prst="rect">
            <a:avLst/>
          </a:prstGeom>
          <a:solidFill>
            <a:srgbClr val="101B2E"/>
          </a:solidFill>
          <a:ln>
            <a:solidFill>
              <a:srgbClr val="38BDF8">
                <a:alpha val="75000"/>
              </a:srgbClr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Schema‑grounded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l">
              <a:buNone/>
            </a:pPr>
            <a:endParaRPr lang="en-US" sz="113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endParaRPr lang="en-US" sz="113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Модель </a:t>
            </a:r>
            <a:r>
              <a:rPr lang="en-US" sz="113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получает</a:t>
            </a: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3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релевантный</a:t>
            </a: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3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фрагмент</a:t>
            </a: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3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схемы</a:t>
            </a: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13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</a:t>
            </a: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3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</a:t>
            </a: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3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всю</a:t>
            </a: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БД </a:t>
            </a:r>
            <a:r>
              <a:rPr lang="en-US" sz="113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целиком</a:t>
            </a: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886968" y="16916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38BDF8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Schema‑grounded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1508760"/>
            <a:ext cx="3063240" cy="1572768"/>
          </a:xfrm>
          <a:prstGeom prst="rect">
            <a:avLst/>
          </a:prstGeom>
          <a:solidFill>
            <a:srgbClr val="101B2E"/>
          </a:solidFill>
          <a:ln>
            <a:solidFill>
              <a:srgbClr val="F43F5E">
                <a:alpha val="75000"/>
              </a:srgbClr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auditor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l">
              <a:buNone/>
            </a:pPr>
            <a:r>
              <a:rPr lang="en-US" sz="1130" dirty="0"/>
              <a:t>  </a:t>
            </a:r>
          </a:p>
          <a:p>
            <a:pPr marL="0" indent="0" algn="ctr">
              <a:buNone/>
            </a:pPr>
            <a:r>
              <a:rPr lang="en-US" sz="113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Правила</a:t>
            </a: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sensitive‑детектор, LLM‑судья и RAG </a:t>
            </a:r>
            <a:r>
              <a:rPr lang="en-US" sz="113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сводятся</a:t>
            </a: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через MAX risk.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4453128" y="16916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F43F5E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F43F5E"/>
                </a:solidFill>
              </a:rPr>
              <a:t>Hybrid auditor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18120" y="1508760"/>
            <a:ext cx="3063240" cy="1572768"/>
          </a:xfrm>
          <a:prstGeom prst="rect">
            <a:avLst/>
          </a:prstGeom>
          <a:solidFill>
            <a:srgbClr val="101B2E"/>
          </a:solidFill>
          <a:ln>
            <a:solidFill>
              <a:srgbClr val="A78BFA">
                <a:alpha val="75000"/>
              </a:srgbClr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Reflection‑loop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ctr">
              <a:buNone/>
            </a:pPr>
            <a:endParaRPr lang="en-US" sz="113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13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превращается в Lesson и исправляет следующую генерацию.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8019288" y="16916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A78BFA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</a:rPr>
              <a:t>Reflection‑loop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3063240" cy="1572768"/>
          </a:xfrm>
          <a:prstGeom prst="rect">
            <a:avLst/>
          </a:prstGeom>
          <a:solidFill>
            <a:srgbClr val="101B2E"/>
          </a:solidFill>
          <a:ln>
            <a:solidFill>
              <a:srgbClr val="2DD4BF">
                <a:alpha val="75000"/>
              </a:srgbClr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ctr">
              <a:buNone/>
            </a:pPr>
            <a:endParaRPr lang="en-US" sz="113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13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3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Каждая</a:t>
            </a: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итерация сохраняется в audit_log: SQL, risk, findings, verdict.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86968" y="39776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2DD4BF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</a:rPr>
              <a:t>Explainability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51960" y="3794760"/>
            <a:ext cx="3063240" cy="1572768"/>
          </a:xfrm>
          <a:prstGeom prst="rect">
            <a:avLst/>
          </a:prstGeom>
          <a:solidFill>
            <a:srgbClr val="101B2E"/>
          </a:solidFill>
          <a:ln>
            <a:solidFill>
              <a:srgbClr val="F59E0B">
                <a:alpha val="75000"/>
              </a:srgbClr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ctr">
              <a:buNone/>
            </a:pPr>
            <a:endParaRPr lang="en-US" sz="113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13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Prometheus/Grafana показывают метрики, Langfuse хранит traces и scores.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4453128" y="39776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F59E0B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Observability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18120" y="3794760"/>
            <a:ext cx="3063240" cy="1572768"/>
          </a:xfrm>
          <a:prstGeom prst="rect">
            <a:avLst/>
          </a:prstGeom>
          <a:solidFill>
            <a:srgbClr val="101B2E"/>
          </a:solidFill>
          <a:ln>
            <a:solidFill>
              <a:srgbClr val="22C55E">
                <a:alpha val="75000"/>
              </a:srgbClr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Reproducibility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ctr">
              <a:buNone/>
            </a:pPr>
            <a:endParaRPr lang="en-US" sz="113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13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+ setup.sh + make check поднимают стек быстро.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8019288" y="39776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22C55E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Reproducibility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1B9"/>
                </a:solidFill>
              </a:rPr>
              <a:t>0</a:t>
            </a:r>
            <a:r>
              <a:rPr lang="ru-RU" sz="900" dirty="0">
                <a:solidFill>
                  <a:srgbClr val="8EA1B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layer: из DDL в релевантный контекст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EA1B9"/>
                </a:solidFill>
              </a:rPr>
              <a:t>Серафим: parser · catalog · cards · embeddings · FAISS · frontend</a:t>
            </a:r>
            <a:endParaRPr lang="en-US" sz="115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C40119-4AA0-1321-D68C-C1D05D30364F}"/>
              </a:ext>
            </a:extLst>
          </p:cNvPr>
          <p:cNvGrpSpPr/>
          <p:nvPr/>
        </p:nvGrpSpPr>
        <p:grpSpPr>
          <a:xfrm>
            <a:off x="2243236" y="1787851"/>
            <a:ext cx="7315200" cy="731520"/>
            <a:chOff x="731520" y="1508760"/>
            <a:chExt cx="7315200" cy="731520"/>
          </a:xfrm>
        </p:grpSpPr>
        <p:sp>
          <p:nvSpPr>
            <p:cNvPr id="6" name="Text 4"/>
            <p:cNvSpPr/>
            <p:nvPr/>
          </p:nvSpPr>
          <p:spPr>
            <a:xfrm>
              <a:off x="731520" y="1508760"/>
              <a:ext cx="1554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8BDF8"/>
                  </a:solidFill>
                </a:rPr>
                <a:t>657 KB</a:t>
              </a:r>
              <a:endParaRPr lang="en-US" sz="2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31520" y="1920240"/>
              <a:ext cx="1554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dirty="0">
                  <a:solidFill>
                    <a:srgbClr val="8EA1B9"/>
                  </a:solidFill>
                </a:rPr>
                <a:t>DDL file</a:t>
              </a:r>
              <a:endParaRPr lang="en-US" sz="87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651760" y="1508760"/>
              <a:ext cx="1554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DD4BF"/>
                  </a:solidFill>
                </a:rPr>
                <a:t>60</a:t>
              </a:r>
              <a:endParaRPr lang="en-US" sz="2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651760" y="1920240"/>
              <a:ext cx="1554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dirty="0">
                  <a:solidFill>
                    <a:srgbClr val="8EA1B9"/>
                  </a:solidFill>
                </a:rPr>
                <a:t>CREATE TABLE</a:t>
              </a:r>
              <a:endParaRPr lang="en-US" sz="87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0" y="1508760"/>
              <a:ext cx="1554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A78BFA"/>
                  </a:solidFill>
                </a:rPr>
                <a:t>201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0" y="1920240"/>
              <a:ext cx="1554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dirty="0">
                  <a:solidFill>
                    <a:srgbClr val="8EA1B9"/>
                  </a:solidFill>
                </a:rPr>
                <a:t>FK references</a:t>
              </a:r>
              <a:endParaRPr lang="en-US" sz="87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492240" y="1508760"/>
              <a:ext cx="1554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59E0B"/>
                  </a:solidFill>
                </a:rPr>
                <a:t>top‑15</a:t>
              </a:r>
              <a:endParaRPr lang="en-US" sz="2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492240" y="1920240"/>
              <a:ext cx="1554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dirty="0">
                  <a:solidFill>
                    <a:srgbClr val="8EA1B9"/>
                  </a:solidFill>
                </a:rPr>
                <a:t>linking tables</a:t>
              </a:r>
              <a:endParaRPr lang="en-US" sz="87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E8D9959-0C9B-903E-0E9E-F78264F93A9F}"/>
              </a:ext>
            </a:extLst>
          </p:cNvPr>
          <p:cNvGrpSpPr/>
          <p:nvPr/>
        </p:nvGrpSpPr>
        <p:grpSpPr>
          <a:xfrm>
            <a:off x="847211" y="2834640"/>
            <a:ext cx="10412233" cy="1271016"/>
            <a:chOff x="640080" y="3246120"/>
            <a:chExt cx="9235440" cy="640080"/>
          </a:xfrm>
        </p:grpSpPr>
        <p:sp>
          <p:nvSpPr>
            <p:cNvPr id="14" name="Text 12"/>
            <p:cNvSpPr/>
            <p:nvPr/>
          </p:nvSpPr>
          <p:spPr>
            <a:xfrm>
              <a:off x="640080" y="3246120"/>
              <a:ext cx="1280160" cy="640080"/>
            </a:xfrm>
            <a:prstGeom prst="rect">
              <a:avLst/>
            </a:prstGeom>
            <a:solidFill>
              <a:srgbClr val="0F2034"/>
            </a:solidFill>
            <a:ln>
              <a:solidFill>
                <a:srgbClr val="38BDF8">
                  <a:alpha val="8000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DDL parser</a:t>
              </a:r>
              <a:endParaRPr lang="en-US" sz="10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993392" y="3566160"/>
              <a:ext cx="475488" cy="0"/>
            </a:xfrm>
            <a:prstGeom prst="line">
              <a:avLst/>
            </a:prstGeom>
            <a:noFill/>
            <a:ln w="17145">
              <a:solidFill>
                <a:srgbClr val="8EA1B9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2468880" y="3246120"/>
              <a:ext cx="1417320" cy="640080"/>
            </a:xfrm>
            <a:prstGeom prst="rect">
              <a:avLst/>
            </a:prstGeom>
            <a:solidFill>
              <a:srgbClr val="0F2034"/>
            </a:solidFill>
            <a:ln>
              <a:solidFill>
                <a:srgbClr val="22D3EE">
                  <a:alpha val="8000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SchemaCatalog</a:t>
              </a:r>
              <a:endParaRPr lang="en-US" sz="10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950208" y="3566160"/>
              <a:ext cx="484632" cy="0"/>
            </a:xfrm>
            <a:prstGeom prst="line">
              <a:avLst/>
            </a:prstGeom>
            <a:noFill/>
            <a:ln w="17145">
              <a:solidFill>
                <a:srgbClr val="8EA1B9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4434840" y="3246120"/>
              <a:ext cx="1417320" cy="640080"/>
            </a:xfrm>
            <a:prstGeom prst="rect">
              <a:avLst/>
            </a:prstGeom>
            <a:solidFill>
              <a:srgbClr val="0F2034"/>
            </a:solidFill>
            <a:ln>
              <a:solidFill>
                <a:srgbClr val="2DD4BF">
                  <a:alpha val="8000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Table cards</a:t>
              </a:r>
              <a:endParaRPr lang="en-US" sz="10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925312" y="3566160"/>
              <a:ext cx="475488" cy="0"/>
            </a:xfrm>
            <a:prstGeom prst="line">
              <a:avLst/>
            </a:prstGeom>
            <a:noFill/>
            <a:ln w="17145">
              <a:solidFill>
                <a:srgbClr val="8EA1B9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6400800" y="3246120"/>
              <a:ext cx="1417320" cy="640080"/>
            </a:xfrm>
            <a:prstGeom prst="rect">
              <a:avLst/>
            </a:prstGeom>
            <a:solidFill>
              <a:srgbClr val="0F2034"/>
            </a:solidFill>
            <a:ln>
              <a:solidFill>
                <a:srgbClr val="A78BFA">
                  <a:alpha val="8000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Embeddings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+ FAISS</a:t>
              </a:r>
              <a:endParaRPr lang="en-US" sz="10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882128" y="3566160"/>
              <a:ext cx="484632" cy="0"/>
            </a:xfrm>
            <a:prstGeom prst="line">
              <a:avLst/>
            </a:prstGeom>
            <a:noFill/>
            <a:ln w="17145">
              <a:solidFill>
                <a:srgbClr val="8EA1B9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8366760" y="3246120"/>
              <a:ext cx="1508760" cy="640080"/>
            </a:xfrm>
            <a:prstGeom prst="rect">
              <a:avLst/>
            </a:prstGeom>
            <a:solidFill>
              <a:srgbClr val="0F2034"/>
            </a:solidFill>
            <a:ln>
              <a:solidFill>
                <a:srgbClr val="22C55E">
                  <a:alpha val="8000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DDL block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for prompt</a:t>
              </a:r>
              <a:endParaRPr lang="en-US" sz="105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868680" y="4983480"/>
            <a:ext cx="9601200" cy="658368"/>
          </a:xfrm>
          <a:prstGeom prst="rect">
            <a:avLst/>
          </a:prstGeom>
          <a:solidFill>
            <a:srgbClr val="0D1A2A"/>
          </a:solidFill>
          <a:ln>
            <a:solidFill>
              <a:srgbClr val="2B3D5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Итог: генератор видит точный релевантный фрагмент схемы; аудитор может ловить out‑of‑schema SQL.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1B9"/>
                </a:solidFill>
              </a:rPr>
              <a:t>0</a:t>
            </a:r>
            <a:r>
              <a:rPr lang="ru-RU" sz="900" dirty="0">
                <a:solidFill>
                  <a:srgbClr val="8EA1B9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LLM‑генератор: prompt как контракт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EA1B9"/>
                </a:solidFill>
              </a:rPr>
              <a:t>Алена: SQL generation · few‑shot · postprocessing · reflection‑loop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058400" cy="502920"/>
          </a:xfrm>
          <a:prstGeom prst="rect">
            <a:avLst/>
          </a:prstGeom>
          <a:solidFill>
            <a:srgbClr val="0D1A2A"/>
          </a:solidFill>
          <a:ln>
            <a:solidFill>
              <a:srgbClr val="2B3D5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вход генератор получает не только NL‑запрос, но и подготовленный контекст: schema block, few‑shot примеры и lessons от аудитора.</a:t>
            </a:r>
            <a:endParaRPr lang="en-US" sz="132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2A4087-12FC-6EB6-D831-3F38716FFACC}"/>
              </a:ext>
            </a:extLst>
          </p:cNvPr>
          <p:cNvGrpSpPr/>
          <p:nvPr/>
        </p:nvGrpSpPr>
        <p:grpSpPr>
          <a:xfrm>
            <a:off x="929640" y="2373463"/>
            <a:ext cx="10332720" cy="1423283"/>
            <a:chOff x="822960" y="2423160"/>
            <a:chExt cx="10012680" cy="731520"/>
          </a:xfrm>
        </p:grpSpPr>
        <p:sp>
          <p:nvSpPr>
            <p:cNvPr id="7" name="Text 5"/>
            <p:cNvSpPr/>
            <p:nvPr/>
          </p:nvSpPr>
          <p:spPr>
            <a:xfrm>
              <a:off x="822960" y="2423160"/>
              <a:ext cx="1965960" cy="731520"/>
            </a:xfrm>
            <a:prstGeom prst="rect">
              <a:avLst/>
            </a:prstGeom>
            <a:solidFill>
              <a:srgbClr val="0F2742"/>
            </a:solidFill>
            <a:ln>
              <a:solidFill>
                <a:srgbClr val="38BDF8">
                  <a:alpha val="8000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1. Prompt builder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NL + schema + examples</a:t>
              </a:r>
              <a:endParaRPr lang="en-US" sz="105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834640" y="2788920"/>
              <a:ext cx="594360" cy="0"/>
            </a:xfrm>
            <a:prstGeom prst="line">
              <a:avLst/>
            </a:prstGeom>
            <a:noFill/>
            <a:ln w="17145">
              <a:solidFill>
                <a:srgbClr val="8EA1B9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3429000" y="2423160"/>
              <a:ext cx="2103120" cy="731520"/>
            </a:xfrm>
            <a:prstGeom prst="rect">
              <a:avLst/>
            </a:prstGeom>
            <a:solidFill>
              <a:srgbClr val="281C3F"/>
            </a:solidFill>
            <a:ln>
              <a:solidFill>
                <a:srgbClr val="A78BFA">
                  <a:alpha val="8000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2. Qwen2.5‑Coder‑32B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plain SQL generation</a:t>
              </a:r>
              <a:endParaRPr lang="en-US" sz="10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577840" y="2788920"/>
              <a:ext cx="594360" cy="0"/>
            </a:xfrm>
            <a:prstGeom prst="line">
              <a:avLst/>
            </a:prstGeom>
            <a:noFill/>
            <a:ln w="17145">
              <a:solidFill>
                <a:srgbClr val="8EA1B9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6172200" y="2423160"/>
              <a:ext cx="2011680" cy="731520"/>
            </a:xfrm>
            <a:prstGeom prst="rect">
              <a:avLst/>
            </a:prstGeom>
            <a:solidFill>
              <a:srgbClr val="0D2B3E"/>
            </a:solidFill>
            <a:ln>
              <a:solidFill>
                <a:srgbClr val="22D3EE">
                  <a:alpha val="8000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3. Postprocessing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remove markdown fences</a:t>
              </a:r>
              <a:endParaRPr lang="en-US" sz="10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8229600" y="2788920"/>
              <a:ext cx="594360" cy="0"/>
            </a:xfrm>
            <a:prstGeom prst="line">
              <a:avLst/>
            </a:prstGeom>
            <a:noFill/>
            <a:ln w="17145">
              <a:solidFill>
                <a:srgbClr val="8EA1B9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8823960" y="2423160"/>
              <a:ext cx="2011680" cy="731520"/>
            </a:xfrm>
            <a:prstGeom prst="rect">
              <a:avLst/>
            </a:prstGeom>
            <a:solidFill>
              <a:srgbClr val="3A2B10"/>
            </a:solidFill>
            <a:ln>
              <a:solidFill>
                <a:srgbClr val="F59E0B">
                  <a:alpha val="8000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4. Auditor feedback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EAF2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finding → Lesson</a:t>
              </a:r>
              <a:endParaRPr lang="en-US" sz="105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4704149" y="3429000"/>
            <a:ext cx="0" cy="1005840"/>
          </a:xfrm>
          <a:prstGeom prst="line">
            <a:avLst/>
          </a:prstGeom>
          <a:noFill/>
          <a:ln w="17145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7386" y="4530867"/>
            <a:ext cx="2533526" cy="502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A78BFA"/>
                </a:solidFill>
              </a:rPr>
              <a:t>reflection-loop: следующий prompt становится точнее, веса модели не меняются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1417320" y="5373096"/>
            <a:ext cx="9326880" cy="548640"/>
          </a:xfrm>
          <a:prstGeom prst="rect">
            <a:avLst/>
          </a:prstGeom>
          <a:solidFill>
            <a:srgbClr val="101B2E"/>
          </a:solidFill>
          <a:ln>
            <a:solidFill>
              <a:srgbClr val="36506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rules: no SELECT * · use LIMIT · only schema names · avoid sensitive output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1B9"/>
                </a:solidFill>
              </a:rPr>
              <a:t>0</a:t>
            </a:r>
            <a:r>
              <a:rPr lang="ru-RU" sz="900" dirty="0">
                <a:solidFill>
                  <a:srgbClr val="8EA1B9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Аудитор: безопасность через несколько слоёв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EA1B9"/>
                </a:solidFill>
              </a:rPr>
              <a:t>Григорий: 9 классов рисков · sensitive‑detector · LLM‑judge · MAX aggregation</a:t>
            </a:r>
            <a:endParaRPr lang="en-US" sz="1150" dirty="0"/>
          </a:p>
        </p:txBody>
      </p:sp>
      <p:pic>
        <p:nvPicPr>
          <p:cNvPr id="6" name="Image 0" descr="/mnt/data/pptx_extract/ppt/media/image3.png"/>
          <p:cNvPicPr>
            <a:picLocks noChangeAspect="1"/>
          </p:cNvPicPr>
          <p:nvPr/>
        </p:nvPicPr>
        <p:blipFill>
          <a:blip r:embed="rId3"/>
          <a:srcRect l="15904" r="15904"/>
          <a:stretch/>
        </p:blipFill>
        <p:spPr>
          <a:xfrm>
            <a:off x="502920" y="1370407"/>
            <a:ext cx="7684685" cy="45000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96204" y="1820053"/>
            <a:ext cx="3252084" cy="2678397"/>
          </a:xfrm>
          <a:prstGeom prst="rect">
            <a:avLst/>
          </a:prstGeom>
          <a:solidFill>
            <a:srgbClr val="101B2E"/>
          </a:solidFill>
          <a:ln>
            <a:solidFill>
              <a:srgbClr val="36506E"/>
            </a:solidFill>
          </a:ln>
        </p:spPr>
        <p:txBody>
          <a:bodyPr wrap="square" lIns="3556" tIns="3556" rIns="3556" bIns="3556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judge</a:t>
            </a:r>
            <a:endParaRPr lang="en-US" sz="1160" dirty="0"/>
          </a:p>
          <a:p>
            <a:pPr marL="0" indent="0" algn="l">
              <a:buNone/>
            </a:pP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Phase 1: deterministic rules / AST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Sensitive: PII, cards, passwords, financial fields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Phase 1.5: CodeBERT malicious score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Phase 2: LLM‑judge + CWE/CAPEC/OWASP RAG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 = MAX(finding.risk_score)</a:t>
            </a:r>
            <a:endParaRPr lang="en-US" sz="1160" dirty="0"/>
          </a:p>
        </p:txBody>
      </p:sp>
      <p:sp>
        <p:nvSpPr>
          <p:cNvPr id="8" name="Text 5"/>
          <p:cNvSpPr/>
          <p:nvPr/>
        </p:nvSpPr>
        <p:spPr>
          <a:xfrm>
            <a:off x="8187605" y="4899990"/>
            <a:ext cx="3260683" cy="970458"/>
          </a:xfrm>
          <a:prstGeom prst="rect">
            <a:avLst/>
          </a:prstGeom>
          <a:solidFill>
            <a:srgbClr val="2B1221"/>
          </a:solidFill>
          <a:ln>
            <a:solidFill>
              <a:srgbClr val="F43F5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DA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stance: false positive дешевле, чем false negative — опасный SQL не должен пройти approve.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8EA1B9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Оркестратор и инфраструктура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8EA1B9"/>
                </a:solidFill>
              </a:rPr>
              <a:t>10</a:t>
            </a:r>
            <a:endParaRPr 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64C860-0955-9C13-9B10-34B0BA739BBE}"/>
              </a:ext>
            </a:extLst>
          </p:cNvPr>
          <p:cNvSpPr txBox="1"/>
          <p:nvPr/>
        </p:nvSpPr>
        <p:spPr>
          <a:xfrm>
            <a:off x="640080" y="1020947"/>
            <a:ext cx="987552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 dirty="0" err="1">
                <a:solidFill>
                  <a:srgbClr val="96A5B7"/>
                </a:solidFill>
                <a:latin typeface="Aptos"/>
              </a:rPr>
              <a:t>Михаил</a:t>
            </a:r>
            <a:r>
              <a:rPr sz="1250" b="0" dirty="0">
                <a:solidFill>
                  <a:srgbClr val="96A5B7"/>
                </a:solidFill>
                <a:latin typeface="Aptos"/>
              </a:rPr>
              <a:t>: </a:t>
            </a:r>
            <a:r>
              <a:rPr sz="1250" b="0" dirty="0" err="1">
                <a:solidFill>
                  <a:srgbClr val="96A5B7"/>
                </a:solidFill>
                <a:latin typeface="Aptos"/>
              </a:rPr>
              <a:t>управляемый</a:t>
            </a:r>
            <a:r>
              <a:rPr sz="1250" b="0" dirty="0">
                <a:solidFill>
                  <a:srgbClr val="96A5B7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96A5B7"/>
                </a:solidFill>
                <a:latin typeface="Aptos"/>
              </a:rPr>
              <a:t>цикл</a:t>
            </a:r>
            <a:r>
              <a:rPr sz="1250" b="0" dirty="0">
                <a:solidFill>
                  <a:srgbClr val="96A5B7"/>
                </a:solidFill>
                <a:latin typeface="Aptos"/>
              </a:rPr>
              <a:t> generate → audit → reflect · sandbox DB · metrics · traces · setup.sh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54741E8-D226-6441-A4A9-F10151026684}"/>
              </a:ext>
            </a:extLst>
          </p:cNvPr>
          <p:cNvSpPr/>
          <p:nvPr/>
        </p:nvSpPr>
        <p:spPr>
          <a:xfrm>
            <a:off x="548640" y="1729806"/>
            <a:ext cx="4154926" cy="4107247"/>
          </a:xfrm>
          <a:prstGeom prst="roundRect">
            <a:avLst/>
          </a:prstGeom>
          <a:solidFill>
            <a:srgbClr val="0C1A2B"/>
          </a:solidFill>
          <a:ln w="12700">
            <a:solidFill>
              <a:srgbClr val="2B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A42705-C25E-AA8A-8450-61B3A2DA68F8}"/>
              </a:ext>
            </a:extLst>
          </p:cNvPr>
          <p:cNvSpPr txBox="1"/>
          <p:nvPr/>
        </p:nvSpPr>
        <p:spPr>
          <a:xfrm>
            <a:off x="828747" y="1989758"/>
            <a:ext cx="3641395" cy="36393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900" b="1">
                <a:solidFill>
                  <a:srgbClr val="ECF2F9"/>
                </a:solidFill>
                <a:latin typeface="Aptos"/>
              </a:rPr>
              <a:t>Контролируемый цикл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ADBF1B5-CFEF-56CC-C334-5C1A700F140A}"/>
              </a:ext>
            </a:extLst>
          </p:cNvPr>
          <p:cNvSpPr/>
          <p:nvPr/>
        </p:nvSpPr>
        <p:spPr>
          <a:xfrm>
            <a:off x="782063" y="2634440"/>
            <a:ext cx="980376" cy="582293"/>
          </a:xfrm>
          <a:prstGeom prst="roundRect">
            <a:avLst/>
          </a:prstGeom>
          <a:solidFill>
            <a:srgbClr val="102439"/>
          </a:solidFill>
          <a:ln w="1397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7E95FF-0E72-9210-3614-F580CB468387}"/>
              </a:ext>
            </a:extLst>
          </p:cNvPr>
          <p:cNvSpPr txBox="1"/>
          <p:nvPr/>
        </p:nvSpPr>
        <p:spPr>
          <a:xfrm>
            <a:off x="782063" y="2790412"/>
            <a:ext cx="980376" cy="1871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050" b="1">
                <a:solidFill>
                  <a:srgbClr val="ECF2F9"/>
                </a:solidFill>
                <a:latin typeface="Aptos"/>
              </a:rPr>
              <a:t>generate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F3E5E77-1B20-4249-868D-146F7F0AC13A}"/>
              </a:ext>
            </a:extLst>
          </p:cNvPr>
          <p:cNvSpPr/>
          <p:nvPr/>
        </p:nvSpPr>
        <p:spPr>
          <a:xfrm>
            <a:off x="2163926" y="2634440"/>
            <a:ext cx="980376" cy="582293"/>
          </a:xfrm>
          <a:prstGeom prst="roundRect">
            <a:avLst/>
          </a:prstGeom>
          <a:solidFill>
            <a:srgbClr val="102439"/>
          </a:solidFill>
          <a:ln w="13970">
            <a:solidFill>
              <a:srgbClr val="FF4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648892-26D6-961A-2198-0AF4465EC986}"/>
              </a:ext>
            </a:extLst>
          </p:cNvPr>
          <p:cNvSpPr txBox="1"/>
          <p:nvPr/>
        </p:nvSpPr>
        <p:spPr>
          <a:xfrm>
            <a:off x="2163926" y="2790412"/>
            <a:ext cx="980376" cy="1871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050" b="1">
                <a:solidFill>
                  <a:srgbClr val="ECF2F9"/>
                </a:solidFill>
                <a:latin typeface="Aptos"/>
              </a:rPr>
              <a:t>audit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B80DD95-A4A8-2017-E346-A05565383049}"/>
              </a:ext>
            </a:extLst>
          </p:cNvPr>
          <p:cNvSpPr/>
          <p:nvPr/>
        </p:nvSpPr>
        <p:spPr>
          <a:xfrm>
            <a:off x="3424409" y="2634440"/>
            <a:ext cx="980376" cy="582293"/>
          </a:xfrm>
          <a:prstGeom prst="roundRect">
            <a:avLst/>
          </a:prstGeom>
          <a:solidFill>
            <a:srgbClr val="102439"/>
          </a:solidFill>
          <a:ln w="1397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897659-BA56-B5DE-1576-13B143EBFBB3}"/>
              </a:ext>
            </a:extLst>
          </p:cNvPr>
          <p:cNvSpPr txBox="1"/>
          <p:nvPr/>
        </p:nvSpPr>
        <p:spPr>
          <a:xfrm>
            <a:off x="3424409" y="2790412"/>
            <a:ext cx="980376" cy="1871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050" b="1">
                <a:solidFill>
                  <a:srgbClr val="ECF2F9"/>
                </a:solidFill>
                <a:latin typeface="Aptos"/>
              </a:rPr>
              <a:t>reflect</a:t>
            </a:r>
          </a:p>
        </p:txBody>
      </p:sp>
      <p:cxnSp>
        <p:nvCxnSpPr>
          <p:cNvPr id="28" name="Connector 12">
            <a:extLst>
              <a:ext uri="{FF2B5EF4-FFF2-40B4-BE49-F238E27FC236}">
                <a16:creationId xmlns:a16="http://schemas.microsoft.com/office/drawing/2014/main" id="{92357CAC-DC4D-A370-006D-F573941255A4}"/>
              </a:ext>
            </a:extLst>
          </p:cNvPr>
          <p:cNvCxnSpPr/>
          <p:nvPr/>
        </p:nvCxnSpPr>
        <p:spPr>
          <a:xfrm>
            <a:off x="1790449" y="2925587"/>
            <a:ext cx="326792" cy="0"/>
          </a:xfrm>
          <a:prstGeom prst="line">
            <a:avLst/>
          </a:prstGeom>
          <a:ln w="21590">
            <a:solidFill>
              <a:srgbClr val="9EA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3">
            <a:extLst>
              <a:ext uri="{FF2B5EF4-FFF2-40B4-BE49-F238E27FC236}">
                <a16:creationId xmlns:a16="http://schemas.microsoft.com/office/drawing/2014/main" id="{56984CB0-B963-C7E3-B065-99FB3B068FF9}"/>
              </a:ext>
            </a:extLst>
          </p:cNvPr>
          <p:cNvCxnSpPr/>
          <p:nvPr/>
        </p:nvCxnSpPr>
        <p:spPr>
          <a:xfrm>
            <a:off x="3162975" y="2925587"/>
            <a:ext cx="214749" cy="0"/>
          </a:xfrm>
          <a:prstGeom prst="line">
            <a:avLst/>
          </a:prstGeom>
          <a:ln w="21590">
            <a:solidFill>
              <a:srgbClr val="9EA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DAFE68E-18D5-B639-0217-FB9E6CDA0271}"/>
              </a:ext>
            </a:extLst>
          </p:cNvPr>
          <p:cNvSpPr txBox="1"/>
          <p:nvPr/>
        </p:nvSpPr>
        <p:spPr>
          <a:xfrm>
            <a:off x="800737" y="3403899"/>
            <a:ext cx="3641395" cy="31194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tos"/>
              </a:rPr>
              <a:t>Если approved → результат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0053C9-09A3-3218-9D3B-9986DA01AB42}"/>
              </a:ext>
            </a:extLst>
          </p:cNvPr>
          <p:cNvSpPr txBox="1"/>
          <p:nvPr/>
        </p:nvSpPr>
        <p:spPr>
          <a:xfrm>
            <a:off x="800737" y="3778230"/>
            <a:ext cx="3641395" cy="31194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Aptos"/>
              </a:rPr>
              <a:t>Если risk ≥ 4.0 → lesson в следующий prompt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11826D-D477-E610-FAFE-98AE230CFA2D}"/>
              </a:ext>
            </a:extLst>
          </p:cNvPr>
          <p:cNvSpPr txBox="1"/>
          <p:nvPr/>
        </p:nvSpPr>
        <p:spPr>
          <a:xfrm>
            <a:off x="800737" y="4246145"/>
            <a:ext cx="3641395" cy="987819"/>
          </a:xfrm>
          <a:prstGeom prst="rect">
            <a:avLst/>
          </a:prstGeom>
          <a:noFill/>
        </p:spPr>
        <p:txBody>
          <a:bodyPr wrap="square" lIns="73152" tIns="27432" rIns="54864" bIns="27432">
            <a:no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CCD6E2"/>
                </a:solidFill>
                <a:latin typeface="Aptos"/>
              </a:rPr>
              <a:t>• максимум 5 итераций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CCD6E2"/>
                </a:solidFill>
                <a:latin typeface="Aptos"/>
              </a:rPr>
              <a:t>• сохраняем SQL, findings, risk, exit_reason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CCD6E2"/>
                </a:solidFill>
                <a:latin typeface="Aptos"/>
              </a:rPr>
              <a:t>• ошибки generator/auditor трактуются как rejected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2D8EC95-03D3-90F4-144D-DC7485C4682F}"/>
              </a:ext>
            </a:extLst>
          </p:cNvPr>
          <p:cNvSpPr/>
          <p:nvPr/>
        </p:nvSpPr>
        <p:spPr>
          <a:xfrm>
            <a:off x="5030357" y="1761000"/>
            <a:ext cx="2007436" cy="1507724"/>
          </a:xfrm>
          <a:prstGeom prst="roundRect">
            <a:avLst/>
          </a:prstGeom>
          <a:solidFill>
            <a:srgbClr val="0F1F31"/>
          </a:solidFill>
          <a:ln w="1397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79DE70-AF04-B376-3A83-281C7A3A98DD}"/>
              </a:ext>
            </a:extLst>
          </p:cNvPr>
          <p:cNvSpPr txBox="1"/>
          <p:nvPr/>
        </p:nvSpPr>
        <p:spPr>
          <a:xfrm>
            <a:off x="5198422" y="1896175"/>
            <a:ext cx="1774013" cy="29114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ECF2F9"/>
                </a:solidFill>
                <a:latin typeface="Aptos"/>
              </a:rPr>
              <a:t>Sandbox DB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1F512C-D506-4A99-29AD-C7A2C5BD51A8}"/>
              </a:ext>
            </a:extLst>
          </p:cNvPr>
          <p:cNvSpPr txBox="1"/>
          <p:nvPr/>
        </p:nvSpPr>
        <p:spPr>
          <a:xfrm>
            <a:off x="5383190" y="2322497"/>
            <a:ext cx="1301769" cy="5447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0" dirty="0">
                <a:solidFill>
                  <a:srgbClr val="97A6B9"/>
                </a:solidFill>
                <a:latin typeface="Aptos"/>
              </a:rPr>
              <a:t>Postgres + DDL </a:t>
            </a:r>
            <a:r>
              <a:rPr sz="1100" b="0" dirty="0" err="1">
                <a:solidFill>
                  <a:srgbClr val="97A6B9"/>
                </a:solidFill>
                <a:latin typeface="Aptos"/>
              </a:rPr>
              <a:t>заказчика</a:t>
            </a:r>
            <a:r>
              <a:rPr sz="1100" b="0" dirty="0">
                <a:solidFill>
                  <a:srgbClr val="97A6B9"/>
                </a:solidFill>
                <a:latin typeface="Aptos"/>
              </a:rPr>
              <a:t> + faker-</a:t>
            </a:r>
            <a:r>
              <a:rPr sz="1100" b="0" dirty="0" err="1">
                <a:solidFill>
                  <a:srgbClr val="97A6B9"/>
                </a:solidFill>
                <a:latin typeface="Aptos"/>
              </a:rPr>
              <a:t>данные</a:t>
            </a:r>
            <a:endParaRPr sz="1100" b="0" dirty="0">
              <a:solidFill>
                <a:srgbClr val="97A6B9"/>
              </a:solidFill>
              <a:latin typeface="Aptos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5218377-9F2E-12EC-B268-1883896E6553}"/>
              </a:ext>
            </a:extLst>
          </p:cNvPr>
          <p:cNvSpPr/>
          <p:nvPr/>
        </p:nvSpPr>
        <p:spPr>
          <a:xfrm>
            <a:off x="7317901" y="1761000"/>
            <a:ext cx="2007436" cy="1507724"/>
          </a:xfrm>
          <a:prstGeom prst="roundRect">
            <a:avLst/>
          </a:prstGeom>
          <a:solidFill>
            <a:srgbClr val="0F1F31"/>
          </a:solidFill>
          <a:ln w="1397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4FAE0E-100F-3E83-3EC0-D34C31AEE8C0}"/>
              </a:ext>
            </a:extLst>
          </p:cNvPr>
          <p:cNvSpPr txBox="1"/>
          <p:nvPr/>
        </p:nvSpPr>
        <p:spPr>
          <a:xfrm>
            <a:off x="7485965" y="1896175"/>
            <a:ext cx="1774013" cy="29114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ECF2F9"/>
                </a:solidFill>
                <a:latin typeface="Aptos"/>
              </a:rPr>
              <a:t>Metrics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D0502C-E270-D1FF-3BCA-53FC293558D5}"/>
              </a:ext>
            </a:extLst>
          </p:cNvPr>
          <p:cNvSpPr txBox="1"/>
          <p:nvPr/>
        </p:nvSpPr>
        <p:spPr>
          <a:xfrm>
            <a:off x="7691383" y="2322496"/>
            <a:ext cx="1260470" cy="5447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0" dirty="0">
                <a:solidFill>
                  <a:srgbClr val="97A6B9"/>
                </a:solidFill>
                <a:latin typeface="Aptos"/>
              </a:rPr>
              <a:t>Prometheus: runs, latency, iterations, risk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C1AFB36-2F31-0330-20EE-4DC37D278545}"/>
              </a:ext>
            </a:extLst>
          </p:cNvPr>
          <p:cNvSpPr/>
          <p:nvPr/>
        </p:nvSpPr>
        <p:spPr>
          <a:xfrm>
            <a:off x="9605444" y="1761000"/>
            <a:ext cx="2007436" cy="1507724"/>
          </a:xfrm>
          <a:prstGeom prst="roundRect">
            <a:avLst/>
          </a:prstGeom>
          <a:solidFill>
            <a:srgbClr val="0F1F31"/>
          </a:solidFill>
          <a:ln w="1397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5FDDE3-0542-A12D-248D-6DAC19935A6C}"/>
              </a:ext>
            </a:extLst>
          </p:cNvPr>
          <p:cNvSpPr txBox="1"/>
          <p:nvPr/>
        </p:nvSpPr>
        <p:spPr>
          <a:xfrm>
            <a:off x="9773508" y="1896175"/>
            <a:ext cx="1774013" cy="29114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ECF2F9"/>
                </a:solidFill>
                <a:latin typeface="Aptos"/>
              </a:rPr>
              <a:t>Tracing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DACCBA-68C3-1A1A-992F-E1B2C5EC4509}"/>
              </a:ext>
            </a:extLst>
          </p:cNvPr>
          <p:cNvSpPr txBox="1"/>
          <p:nvPr/>
        </p:nvSpPr>
        <p:spPr>
          <a:xfrm>
            <a:off x="9990703" y="2349443"/>
            <a:ext cx="1229068" cy="3754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0" dirty="0" err="1">
                <a:solidFill>
                  <a:srgbClr val="97A6B9"/>
                </a:solidFill>
                <a:latin typeface="Aptos"/>
              </a:rPr>
              <a:t>Langfuse</a:t>
            </a:r>
            <a:r>
              <a:rPr sz="1100" b="0" dirty="0">
                <a:solidFill>
                  <a:srgbClr val="97A6B9"/>
                </a:solidFill>
                <a:latin typeface="Aptos"/>
              </a:rPr>
              <a:t>: trace, scores, feedback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8A4C8E-A27E-77EA-35A8-3FF486BA3EDC}"/>
              </a:ext>
            </a:extLst>
          </p:cNvPr>
          <p:cNvSpPr txBox="1"/>
          <p:nvPr/>
        </p:nvSpPr>
        <p:spPr>
          <a:xfrm>
            <a:off x="5217096" y="3684648"/>
            <a:ext cx="1587275" cy="3951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2300" b="1">
                <a:solidFill>
                  <a:srgbClr val="22D3EE"/>
                </a:solidFill>
                <a:latin typeface="Aptos"/>
              </a:rPr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2E26DB-04ED-0921-676E-B5F042E5BB79}"/>
              </a:ext>
            </a:extLst>
          </p:cNvPr>
          <p:cNvSpPr txBox="1"/>
          <p:nvPr/>
        </p:nvSpPr>
        <p:spPr>
          <a:xfrm>
            <a:off x="5217096" y="4121368"/>
            <a:ext cx="1587275" cy="28074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100" b="0">
                <a:solidFill>
                  <a:srgbClr val="97A6B9"/>
                </a:solidFill>
                <a:latin typeface="Aptos"/>
              </a:rPr>
              <a:t>docker services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AFD1C1-D2B9-A8F7-47B3-151C801412B9}"/>
              </a:ext>
            </a:extLst>
          </p:cNvPr>
          <p:cNvSpPr txBox="1"/>
          <p:nvPr/>
        </p:nvSpPr>
        <p:spPr>
          <a:xfrm>
            <a:off x="7551324" y="3684648"/>
            <a:ext cx="1587275" cy="3951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2300" b="1">
                <a:solidFill>
                  <a:srgbClr val="34D399"/>
                </a:solidFill>
                <a:latin typeface="Aptos"/>
              </a:rPr>
              <a:t>500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88A076-6318-133A-9A04-C8239682988D}"/>
              </a:ext>
            </a:extLst>
          </p:cNvPr>
          <p:cNvSpPr txBox="1"/>
          <p:nvPr/>
        </p:nvSpPr>
        <p:spPr>
          <a:xfrm>
            <a:off x="7551324" y="4121368"/>
            <a:ext cx="1587275" cy="28074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100" b="0">
                <a:solidFill>
                  <a:srgbClr val="97A6B9"/>
                </a:solidFill>
                <a:latin typeface="Aptos"/>
              </a:rPr>
              <a:t>faker rows / table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27D23F-2C2E-C439-903E-DB28F774EEE4}"/>
              </a:ext>
            </a:extLst>
          </p:cNvPr>
          <p:cNvSpPr txBox="1"/>
          <p:nvPr/>
        </p:nvSpPr>
        <p:spPr>
          <a:xfrm>
            <a:off x="9577433" y="3684648"/>
            <a:ext cx="1587275" cy="3951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2300" b="1">
                <a:solidFill>
                  <a:srgbClr val="A78BFA"/>
                </a:solidFill>
                <a:latin typeface="Aptos"/>
              </a:rPr>
              <a:t>setup.sh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07C9E6-9CA6-1E92-8B54-0D8522D93481}"/>
              </a:ext>
            </a:extLst>
          </p:cNvPr>
          <p:cNvSpPr txBox="1"/>
          <p:nvPr/>
        </p:nvSpPr>
        <p:spPr>
          <a:xfrm>
            <a:off x="9577433" y="4121368"/>
            <a:ext cx="1587275" cy="28074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100" b="0">
                <a:solidFill>
                  <a:srgbClr val="97A6B9"/>
                </a:solidFill>
                <a:latin typeface="Aptos"/>
              </a:rPr>
              <a:t>idempotent start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940DB54-51BC-6A77-C550-0AF82392DD1D}"/>
              </a:ext>
            </a:extLst>
          </p:cNvPr>
          <p:cNvSpPr/>
          <p:nvPr/>
        </p:nvSpPr>
        <p:spPr>
          <a:xfrm>
            <a:off x="5030357" y="4714059"/>
            <a:ext cx="6582523" cy="1091800"/>
          </a:xfrm>
          <a:prstGeom prst="roundRect">
            <a:avLst/>
          </a:prstGeom>
          <a:solidFill>
            <a:srgbClr val="0C1A2B"/>
          </a:solidFill>
          <a:ln w="12700">
            <a:solidFill>
              <a:srgbClr val="2B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BBC194-0F84-C333-6FDC-AC578692B0AC}"/>
              </a:ext>
            </a:extLst>
          </p:cNvPr>
          <p:cNvSpPr txBox="1"/>
          <p:nvPr/>
        </p:nvSpPr>
        <p:spPr>
          <a:xfrm>
            <a:off x="5310465" y="4932419"/>
            <a:ext cx="6022308" cy="29114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ECF2F9"/>
                </a:solidFill>
                <a:latin typeface="Aptos"/>
              </a:rPr>
              <a:t>Воспроизводимый запуск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E28F32-A561-7358-3884-0EBC8A90EB8F}"/>
              </a:ext>
            </a:extLst>
          </p:cNvPr>
          <p:cNvSpPr txBox="1"/>
          <p:nvPr/>
        </p:nvSpPr>
        <p:spPr>
          <a:xfrm>
            <a:off x="5310465" y="5317148"/>
            <a:ext cx="6022308" cy="29114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2DD4BF"/>
                </a:solidFill>
                <a:latin typeface="Aptos"/>
              </a:rPr>
              <a:t>setup.sh → docker compose → healthcheck → UI / Grafana / Langfuse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Продуктовый слой: UI, live‑stream и audit‑log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EA1B9"/>
                </a:solidFill>
              </a:rPr>
              <a:t>Пользователь видит не только SQL, но и путь проверки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33223"/>
            <a:ext cx="2013668" cy="1991078"/>
          </a:xfrm>
          <a:prstGeom prst="rect">
            <a:avLst/>
          </a:prstGeom>
          <a:solidFill>
            <a:srgbClr val="0D1A2A"/>
          </a:solidFill>
          <a:ln>
            <a:solidFill>
              <a:srgbClr val="2B3D57"/>
            </a:solidFill>
          </a:ln>
        </p:spPr>
        <p:txBody>
          <a:bodyPr wrap="square" lIns="2540" tIns="2540" rIns="2540" bIns="254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демонстрирует основной сценарий: ввод NL‑задачи, live‑stream итераций, финальный SQL, vulnerabilities, audit_log и feedback.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3753485"/>
            <a:ext cx="2013668" cy="2377440"/>
          </a:xfrm>
          <a:prstGeom prst="rect">
            <a:avLst/>
          </a:prstGeom>
          <a:solidFill>
            <a:srgbClr val="101B2E"/>
          </a:solidFill>
          <a:ln>
            <a:solidFill>
              <a:srgbClr val="36506E"/>
            </a:solidFill>
          </a:ln>
        </p:spPr>
        <p:txBody>
          <a:bodyPr wrap="square" lIns="3175" tIns="3175" rIns="3175" bIns="3175" rtlCol="0" anchor="t">
            <a:normAutofit/>
          </a:bodyPr>
          <a:lstStyle/>
          <a:p>
            <a:pPr marL="0" indent="0">
              <a:buNone/>
            </a:pP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</a:t>
            </a: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функции</a:t>
            </a:r>
            <a:endParaRPr lang="en-US" sz="1220" dirty="0"/>
          </a:p>
          <a:p>
            <a:pPr marL="0" indent="0">
              <a:buNone/>
            </a:pPr>
            <a:endParaRPr lang="en-US" sz="122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SSR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SSE thinking‑stream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clarify‑questions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demo_db</a:t>
            </a: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execution only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→ </a:t>
            </a: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jsonl</a:t>
            </a: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 </a:t>
            </a: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Langfuse</a:t>
            </a: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score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1B9"/>
                </a:solidFill>
              </a:rPr>
              <a:t>1</a:t>
            </a:r>
            <a:r>
              <a:rPr lang="ru-RU" sz="900" dirty="0">
                <a:solidFill>
                  <a:srgbClr val="8EA1B9"/>
                </a:solidFill>
              </a:rPr>
              <a:t>1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1E5CA2-94F8-6676-A8AC-DF4A6BC8F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488" y="1433223"/>
            <a:ext cx="8269792" cy="46977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28A54-0AFD-E32E-1750-E218016A3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E69EE1-7DC1-D4C1-223E-04BF7996560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DDE20DF-0D58-34CC-F468-412A912A7535}"/>
              </a:ext>
            </a:extLst>
          </p:cNvPr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FF7953-2D54-7127-2F46-163D8E5FA8B7}"/>
              </a:ext>
            </a:extLst>
          </p:cNvPr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Продуктовый слой: UI, live‑stream и audit‑log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D8BA6C-6DB9-D264-BEFD-7F536799F0C3}"/>
              </a:ext>
            </a:extLst>
          </p:cNvPr>
          <p:cNvSpPr/>
          <p:nvPr/>
        </p:nvSpPr>
        <p:spPr>
          <a:xfrm>
            <a:off x="658368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EA1B9"/>
                </a:solidFill>
              </a:rPr>
              <a:t>Пользователь видит не только SQL, но и путь проверки</a:t>
            </a:r>
            <a:endParaRPr lang="en-US" sz="11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527E9E-9BE3-FE2B-819E-9E515A2DFBE7}"/>
              </a:ext>
            </a:extLst>
          </p:cNvPr>
          <p:cNvSpPr/>
          <p:nvPr/>
        </p:nvSpPr>
        <p:spPr>
          <a:xfrm>
            <a:off x="640080" y="1433223"/>
            <a:ext cx="2013668" cy="1991078"/>
          </a:xfrm>
          <a:prstGeom prst="rect">
            <a:avLst/>
          </a:prstGeom>
          <a:solidFill>
            <a:srgbClr val="0D1A2A"/>
          </a:solidFill>
          <a:ln>
            <a:solidFill>
              <a:srgbClr val="2B3D57"/>
            </a:solidFill>
          </a:ln>
        </p:spPr>
        <p:txBody>
          <a:bodyPr wrap="square" lIns="2540" tIns="2540" rIns="2540" bIns="254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демонстрирует основной сценарий: ввод NL‑задачи, live‑stream итераций, финальный SQL, vulnerabilities, audit_log и feedback.</a:t>
            </a:r>
            <a:endParaRPr lang="en-US" sz="122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307C70-0855-750B-B1B1-23FE9981CB90}"/>
              </a:ext>
            </a:extLst>
          </p:cNvPr>
          <p:cNvSpPr/>
          <p:nvPr/>
        </p:nvSpPr>
        <p:spPr>
          <a:xfrm>
            <a:off x="658368" y="3753485"/>
            <a:ext cx="2013668" cy="2377440"/>
          </a:xfrm>
          <a:prstGeom prst="rect">
            <a:avLst/>
          </a:prstGeom>
          <a:solidFill>
            <a:srgbClr val="101B2E"/>
          </a:solidFill>
          <a:ln>
            <a:solidFill>
              <a:srgbClr val="36506E"/>
            </a:solidFill>
          </a:ln>
        </p:spPr>
        <p:txBody>
          <a:bodyPr wrap="square" lIns="3175" tIns="3175" rIns="3175" bIns="3175" rtlCol="0" anchor="t">
            <a:normAutofit/>
          </a:bodyPr>
          <a:lstStyle/>
          <a:p>
            <a:pPr marL="0" indent="0">
              <a:buNone/>
            </a:pP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</a:t>
            </a: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функции</a:t>
            </a:r>
            <a:endParaRPr lang="en-US" sz="1220" dirty="0"/>
          </a:p>
          <a:p>
            <a:pPr marL="0" indent="0">
              <a:buNone/>
            </a:pPr>
            <a:endParaRPr lang="en-US" sz="1220" dirty="0">
              <a:solidFill>
                <a:srgbClr val="C7D2E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SSR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SSE thinking‑stream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clarify‑questions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demo_db</a:t>
            </a: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execution only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→ </a:t>
            </a: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jsonl</a:t>
            </a: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 </a:t>
            </a:r>
            <a:r>
              <a:rPr lang="en-US" sz="1220" dirty="0" err="1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Langfuse</a:t>
            </a:r>
            <a:r>
              <a:rPr lang="en-US" sz="122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score</a:t>
            </a:r>
            <a:endParaRPr lang="en-US" sz="122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A3C2B66-A47E-85C1-3546-05DEDAA194C0}"/>
              </a:ext>
            </a:extLst>
          </p:cNvPr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B4DB3ED-06DB-F7C4-C226-4D84DF0485BB}"/>
              </a:ext>
            </a:extLst>
          </p:cNvPr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1B9"/>
                </a:solidFill>
              </a:rPr>
              <a:t>1</a:t>
            </a:r>
            <a:r>
              <a:rPr lang="en-GB" sz="900" dirty="0">
                <a:solidFill>
                  <a:srgbClr val="8EA1B9"/>
                </a:solidFill>
              </a:rPr>
              <a:t>2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105E40-8F55-788A-0F29-197FE18B6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260" y="1444498"/>
            <a:ext cx="8229823" cy="468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59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Observability: контроль качества в реальном времени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EA1B9"/>
                </a:solidFill>
              </a:rPr>
              <a:t>Trace в Langfuse + метрики в Grafana</a:t>
            </a:r>
            <a:endParaRPr lang="en-US" sz="1150" dirty="0"/>
          </a:p>
        </p:txBody>
      </p:sp>
      <p:pic>
        <p:nvPicPr>
          <p:cNvPr id="7" name="Image 1" descr="/mnt/data/pptx_extract/ppt/media/image5.png"/>
          <p:cNvPicPr>
            <a:picLocks noChangeAspect="1"/>
          </p:cNvPicPr>
          <p:nvPr/>
        </p:nvPicPr>
        <p:blipFill>
          <a:blip r:embed="rId3"/>
          <a:srcRect l="8143" r="6046"/>
          <a:stretch>
            <a:fillRect/>
          </a:stretch>
        </p:blipFill>
        <p:spPr>
          <a:xfrm>
            <a:off x="5931408" y="1411754"/>
            <a:ext cx="5516880" cy="3815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421199"/>
            <a:ext cx="4670509" cy="566928"/>
          </a:xfrm>
          <a:prstGeom prst="rect">
            <a:avLst/>
          </a:prstGeom>
          <a:solidFill>
            <a:srgbClr val="0D1A2A"/>
          </a:solidFill>
          <a:ln>
            <a:solidFill>
              <a:srgbClr val="2B3D5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Langfuse: prompt · output SQL · iterations · approved · final_risk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095846" y="5446246"/>
            <a:ext cx="5175127" cy="566928"/>
          </a:xfrm>
          <a:prstGeom prst="rect">
            <a:avLst/>
          </a:prstGeom>
          <a:solidFill>
            <a:srgbClr val="0D1A2A"/>
          </a:solidFill>
          <a:ln>
            <a:solidFill>
              <a:srgbClr val="2B3D5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Grafana: runs_total · latency p95 · risk gauge · findings by class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1B9"/>
                </a:solidFill>
              </a:rPr>
              <a:t>1</a:t>
            </a:r>
            <a:r>
              <a:rPr lang="en-GB" sz="900" dirty="0">
                <a:solidFill>
                  <a:srgbClr val="8EA1B9"/>
                </a:solidFill>
              </a:rPr>
              <a:t>3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EFC218-6223-7729-4F8B-9EEC1D6FDA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762"/>
          <a:stretch>
            <a:fillRect/>
          </a:stretch>
        </p:blipFill>
        <p:spPr>
          <a:xfrm>
            <a:off x="658368" y="1411754"/>
            <a:ext cx="4652221" cy="38150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1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18288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1B9"/>
                </a:solidFill>
              </a:rPr>
              <a:t>SQL Security · Multi‑Agent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1B9"/>
                </a:solidFill>
              </a:rPr>
              <a:t>1</a:t>
            </a:r>
            <a:r>
              <a:rPr lang="ru-RU" sz="900" dirty="0">
                <a:solidFill>
                  <a:srgbClr val="8EA1B9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Box 18"/>
          <p:cNvSpPr txBox="1"/>
          <p:nvPr/>
        </p:nvSpPr>
        <p:spPr>
          <a:xfrm>
            <a:off x="594360" y="502920"/>
            <a:ext cx="111556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900" b="1">
                <a:solidFill>
                  <a:srgbClr val="EBF2FF"/>
                </a:solidFill>
                <a:latin typeface="Aptos Display"/>
              </a:defRPr>
            </a:pPr>
            <a:r>
              <a:t>Результаты и проверяемость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005840"/>
            <a:ext cx="107899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00" b="0">
                <a:solidFill>
                  <a:srgbClr val="97A4B5"/>
                </a:solidFill>
                <a:latin typeface="Aptos"/>
              </a:defRPr>
            </a:pPr>
            <a:r>
              <a:t>Воспроизводимый запуск, smoke‑test, security‑сценарии и наблюдаемость каждого прогона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641479-FDE4-FDF0-F992-AF5502BC3BA5}"/>
              </a:ext>
            </a:extLst>
          </p:cNvPr>
          <p:cNvGrpSpPr/>
          <p:nvPr/>
        </p:nvGrpSpPr>
        <p:grpSpPr>
          <a:xfrm>
            <a:off x="612648" y="1559052"/>
            <a:ext cx="10789920" cy="1065276"/>
            <a:chOff x="685800" y="1691640"/>
            <a:chExt cx="11384280" cy="960120"/>
          </a:xfrm>
        </p:grpSpPr>
        <p:sp>
          <p:nvSpPr>
            <p:cNvPr id="21" name="Rounded Rectangle 20"/>
            <p:cNvSpPr/>
            <p:nvPr/>
          </p:nvSpPr>
          <p:spPr>
            <a:xfrm>
              <a:off x="685800" y="1691640"/>
              <a:ext cx="2606040" cy="960120"/>
            </a:xfrm>
            <a:prstGeom prst="roundRect">
              <a:avLst/>
            </a:prstGeom>
            <a:solidFill>
              <a:srgbClr val="0D1D30"/>
            </a:solidFill>
            <a:ln w="15240">
              <a:solidFill>
                <a:srgbClr val="A67C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2960" y="1810512"/>
              <a:ext cx="2331720" cy="246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2000" b="1">
                  <a:solidFill>
                    <a:srgbClr val="A67CFF"/>
                  </a:solidFill>
                  <a:latin typeface="Aptos Display"/>
                </a:defRPr>
              </a:pPr>
              <a:r>
                <a:t>1 cmd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2960" y="2130552"/>
              <a:ext cx="2331720" cy="1828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1100" b="1">
                  <a:solidFill>
                    <a:srgbClr val="E5EEFA"/>
                  </a:solidFill>
                  <a:latin typeface="Aptos"/>
                </a:defRPr>
              </a:pPr>
              <a:r>
                <a:t>./setup.sh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22960" y="2350008"/>
              <a:ext cx="2331720" cy="1828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850" b="0">
                  <a:solidFill>
                    <a:srgbClr val="97A4B5"/>
                  </a:solidFill>
                  <a:latin typeface="Aptos"/>
                </a:defRPr>
              </a:pPr>
              <a:r>
                <a:t>идемпотентный старт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611880" y="1691640"/>
              <a:ext cx="2606040" cy="960120"/>
            </a:xfrm>
            <a:prstGeom prst="roundRect">
              <a:avLst/>
            </a:prstGeom>
            <a:solidFill>
              <a:srgbClr val="0D1D30"/>
            </a:solidFill>
            <a:ln w="15240">
              <a:solidFill>
                <a:srgbClr val="2AC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254113" y="1810564"/>
              <a:ext cx="1304140" cy="3077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2000" b="1">
                  <a:solidFill>
                    <a:srgbClr val="2AC6F3"/>
                  </a:solidFill>
                  <a:latin typeface="Aptos Display"/>
                </a:defRPr>
              </a:pPr>
              <a:r>
                <a:rPr lang="en-US" dirty="0"/>
                <a:t>make check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541500" y="2119534"/>
              <a:ext cx="729367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1100" b="1">
                  <a:solidFill>
                    <a:srgbClr val="E5EEFA"/>
                  </a:solidFill>
                  <a:latin typeface="Aptos"/>
                </a:defRPr>
              </a:pPr>
              <a:r>
                <a:rPr lang="en-US" dirty="0"/>
                <a:t>smoke-test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749040" y="2350008"/>
              <a:ext cx="2331720" cy="1828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850" b="0">
                  <a:solidFill>
                    <a:srgbClr val="97A4B5"/>
                  </a:solidFill>
                  <a:latin typeface="Aptos"/>
                </a:defRPr>
              </a:pPr>
              <a:r>
                <a:t>контейнеры · endpoints · /audit · metrics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537960" y="1691640"/>
              <a:ext cx="2606040" cy="960120"/>
            </a:xfrm>
            <a:prstGeom prst="roundRect">
              <a:avLst/>
            </a:prstGeom>
            <a:solidFill>
              <a:srgbClr val="0D1D30"/>
            </a:solidFill>
            <a:ln w="15240">
              <a:solidFill>
                <a:srgbClr val="FF3B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75120" y="1810512"/>
              <a:ext cx="2331720" cy="246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2000" b="1">
                  <a:solidFill>
                    <a:srgbClr val="FF3B6B"/>
                  </a:solidFill>
                  <a:latin typeface="Aptos Display"/>
                </a:defRPr>
              </a:pPr>
              <a:r>
                <a:t>9 classes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75120" y="2130552"/>
              <a:ext cx="2331720" cy="1828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1100" b="1">
                  <a:solidFill>
                    <a:srgbClr val="E5EEFA"/>
                  </a:solidFill>
                  <a:latin typeface="Aptos"/>
                </a:defRPr>
              </a:pPr>
              <a:r>
                <a:t>security risks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675120" y="2350008"/>
              <a:ext cx="2331720" cy="1828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850" b="0">
                  <a:solidFill>
                    <a:srgbClr val="97A4B5"/>
                  </a:solidFill>
                  <a:latin typeface="Aptos"/>
                </a:defRPr>
              </a:pPr>
              <a:r>
                <a:t>уязвимости из ТЗ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464040" y="1691640"/>
              <a:ext cx="2606040" cy="960120"/>
            </a:xfrm>
            <a:prstGeom prst="roundRect">
              <a:avLst/>
            </a:prstGeom>
            <a:solidFill>
              <a:srgbClr val="0D1D30"/>
            </a:solidFill>
            <a:ln w="15240">
              <a:solidFill>
                <a:srgbClr val="2CE0C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601200" y="1810512"/>
              <a:ext cx="2331720" cy="246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2000" b="1">
                  <a:solidFill>
                    <a:srgbClr val="2CE0CB"/>
                  </a:solidFill>
                  <a:latin typeface="Aptos Display"/>
                </a:defRPr>
              </a:pPr>
              <a:r>
                <a:t>trace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01200" y="2130552"/>
              <a:ext cx="2331720" cy="1828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1100" b="1">
                  <a:solidFill>
                    <a:srgbClr val="E5EEFA"/>
                  </a:solidFill>
                  <a:latin typeface="Aptos"/>
                </a:defRPr>
              </a:pPr>
              <a:r>
                <a:t>Langfuse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01200" y="2350008"/>
              <a:ext cx="2331720" cy="1828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850" b="0">
                  <a:solidFill>
                    <a:srgbClr val="97A4B5"/>
                  </a:solidFill>
                  <a:latin typeface="Aptos"/>
                </a:defRPr>
              </a:pPr>
              <a:r>
                <a:t>scores · feedback · audit trail</a:t>
              </a: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713232" y="2971800"/>
            <a:ext cx="5142711" cy="2148840"/>
          </a:xfrm>
          <a:prstGeom prst="roundRect">
            <a:avLst/>
          </a:prstGeom>
          <a:solidFill>
            <a:srgbClr val="0A1626"/>
          </a:solidFill>
          <a:ln w="15240">
            <a:solidFill>
              <a:srgbClr val="2AC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159274" y="2971800"/>
            <a:ext cx="5319494" cy="2148840"/>
          </a:xfrm>
          <a:prstGeom prst="roundRect">
            <a:avLst/>
          </a:prstGeom>
          <a:solidFill>
            <a:srgbClr val="0A1626"/>
          </a:solidFill>
          <a:ln w="15240">
            <a:solidFill>
              <a:srgbClr val="2C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3145536"/>
            <a:ext cx="4937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1">
                <a:solidFill>
                  <a:srgbClr val="EBF2FF"/>
                </a:solidFill>
                <a:latin typeface="Aptos Display"/>
              </a:defRPr>
            </a:pPr>
            <a:r>
              <a:t>Проверенные demo‑сценарии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3456432"/>
            <a:ext cx="3924536" cy="1315745"/>
          </a:xfrm>
          <a:prstGeom prst="rect">
            <a:avLst/>
          </a:prstGeom>
          <a:noFill/>
        </p:spPr>
        <p:txBody>
          <a:bodyPr wrap="none" lIns="128016" tIns="91440">
            <a:spAutoFit/>
          </a:bodyPr>
          <a:lstStyle/>
          <a:p>
            <a:endParaRPr dirty="0"/>
          </a:p>
          <a:p>
            <a:pPr>
              <a:spcAft>
                <a:spcPts val="500"/>
              </a:spcAft>
              <a:defRPr sz="1150">
                <a:solidFill>
                  <a:srgbClr val="DCE6F2"/>
                </a:solidFill>
                <a:latin typeface="Aptos"/>
              </a:defRPr>
            </a:pPr>
            <a:r>
              <a:rPr dirty="0"/>
              <a:t>✓ </a:t>
            </a:r>
            <a:r>
              <a:rPr dirty="0" err="1"/>
              <a:t>простой</a:t>
            </a:r>
            <a:r>
              <a:rPr dirty="0"/>
              <a:t> NL‑</a:t>
            </a:r>
            <a:r>
              <a:rPr dirty="0" err="1"/>
              <a:t>запрос</a:t>
            </a:r>
            <a:r>
              <a:rPr dirty="0"/>
              <a:t> → approved SQL + </a:t>
            </a:r>
            <a:r>
              <a:rPr dirty="0" err="1"/>
              <a:t>audit_log</a:t>
            </a:r>
            <a:endParaRPr dirty="0"/>
          </a:p>
          <a:p>
            <a:pPr>
              <a:spcAft>
                <a:spcPts val="500"/>
              </a:spcAft>
              <a:defRPr sz="1150">
                <a:solidFill>
                  <a:srgbClr val="DCE6F2"/>
                </a:solidFill>
                <a:latin typeface="Aptos"/>
              </a:defRPr>
            </a:pPr>
            <a:r>
              <a:rPr dirty="0"/>
              <a:t>✓ </a:t>
            </a:r>
            <a:r>
              <a:rPr dirty="0" err="1"/>
              <a:t>широкий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→ clarifying question </a:t>
            </a:r>
            <a:r>
              <a:rPr dirty="0" err="1"/>
              <a:t>вместо</a:t>
            </a:r>
            <a:r>
              <a:rPr dirty="0"/>
              <a:t> SELECT *</a:t>
            </a:r>
          </a:p>
          <a:p>
            <a:pPr>
              <a:spcAft>
                <a:spcPts val="500"/>
              </a:spcAft>
              <a:defRPr sz="1150">
                <a:solidFill>
                  <a:srgbClr val="DCE6F2"/>
                </a:solidFill>
                <a:latin typeface="Aptos"/>
              </a:defRPr>
            </a:pPr>
            <a:r>
              <a:rPr dirty="0"/>
              <a:t>✓ </a:t>
            </a:r>
            <a:r>
              <a:rPr dirty="0" err="1"/>
              <a:t>pg_catalog</a:t>
            </a:r>
            <a:r>
              <a:rPr dirty="0"/>
              <a:t> → rejected, risk </a:t>
            </a:r>
            <a:r>
              <a:rPr lang="ru-RU" dirty="0"/>
              <a:t>4</a:t>
            </a:r>
            <a:r>
              <a:rPr dirty="0"/>
              <a:t>.0, SCHEMA_INTROSPECT</a:t>
            </a:r>
          </a:p>
          <a:p>
            <a:pPr>
              <a:spcAft>
                <a:spcPts val="500"/>
              </a:spcAft>
              <a:defRPr sz="1150">
                <a:solidFill>
                  <a:srgbClr val="DCE6F2"/>
                </a:solidFill>
                <a:latin typeface="Aptos"/>
              </a:defRPr>
            </a:pPr>
            <a:r>
              <a:rPr dirty="0"/>
              <a:t>✓ feedback → data/</a:t>
            </a:r>
            <a:r>
              <a:rPr dirty="0" err="1"/>
              <a:t>feedback.jsonl</a:t>
            </a:r>
            <a:r>
              <a:rPr dirty="0"/>
              <a:t> + </a:t>
            </a:r>
            <a:r>
              <a:rPr dirty="0" err="1"/>
              <a:t>Langfuse</a:t>
            </a:r>
            <a:r>
              <a:rPr dirty="0"/>
              <a:t> 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3145536"/>
            <a:ext cx="44348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1">
                <a:solidFill>
                  <a:srgbClr val="EBF2FF"/>
                </a:solidFill>
                <a:latin typeface="Aptos Display"/>
              </a:defRPr>
            </a:pPr>
            <a:r>
              <a:t>Что видно после запуска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456432"/>
            <a:ext cx="4434840" cy="1417320"/>
          </a:xfrm>
          <a:prstGeom prst="rect">
            <a:avLst/>
          </a:prstGeom>
          <a:noFill/>
        </p:spPr>
        <p:txBody>
          <a:bodyPr wrap="none" lIns="128016" tIns="91440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1150">
                <a:solidFill>
                  <a:srgbClr val="DCE6F2"/>
                </a:solidFill>
                <a:latin typeface="Aptos"/>
              </a:defRPr>
            </a:pPr>
            <a:r>
              <a:t>Prometheus: runs, latency, iterations, final risk</a:t>
            </a:r>
          </a:p>
          <a:p>
            <a:pPr>
              <a:spcAft>
                <a:spcPts val="500"/>
              </a:spcAft>
              <a:defRPr sz="1150">
                <a:solidFill>
                  <a:srgbClr val="DCE6F2"/>
                </a:solidFill>
                <a:latin typeface="Aptos"/>
              </a:defRPr>
            </a:pPr>
            <a:r>
              <a:t>Grafana: SQL Security dashboard</a:t>
            </a:r>
          </a:p>
          <a:p>
            <a:pPr>
              <a:spcAft>
                <a:spcPts val="500"/>
              </a:spcAft>
              <a:defRPr sz="1150">
                <a:solidFill>
                  <a:srgbClr val="DCE6F2"/>
                </a:solidFill>
                <a:latin typeface="Aptos"/>
              </a:defRPr>
            </a:pPr>
            <a:r>
              <a:t>Langfuse: trace, prompt/output, scores, feedback</a:t>
            </a:r>
          </a:p>
          <a:p>
            <a:pPr>
              <a:spcAft>
                <a:spcPts val="500"/>
              </a:spcAft>
              <a:defRPr sz="1150">
                <a:solidFill>
                  <a:srgbClr val="DCE6F2"/>
                </a:solidFill>
                <a:latin typeface="Aptos"/>
              </a:defRPr>
            </a:pPr>
            <a:r>
              <a:t>audit_log: SQL и findings по каждой итерации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5532120"/>
            <a:ext cx="10765536" cy="594360"/>
          </a:xfrm>
          <a:prstGeom prst="roundRect">
            <a:avLst/>
          </a:prstGeom>
          <a:solidFill>
            <a:srgbClr val="0C1E2D"/>
          </a:solidFill>
          <a:ln w="15240">
            <a:solidFill>
              <a:srgbClr val="2C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5669280"/>
            <a:ext cx="10149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500" b="1">
                <a:solidFill>
                  <a:srgbClr val="2CE0CB"/>
                </a:solidFill>
                <a:latin typeface="Aptos"/>
              </a:defRPr>
            </a:pPr>
            <a:r>
              <a:t>setup.sh  →  make check  →  UI demo  →  Grafana metrics  →  Langfuse trace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44800" y="5230368"/>
            <a:ext cx="6652462" cy="146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0">
                <a:solidFill>
                  <a:srgbClr val="97A4B5"/>
                </a:solidFill>
                <a:latin typeface="Aptos"/>
              </a:defRPr>
            </a:pPr>
            <a:r>
              <a:rPr lang="ru-RU" dirty="0"/>
              <a:t>Р</a:t>
            </a:r>
            <a:r>
              <a:rPr dirty="0" err="1"/>
              <a:t>езультат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показать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UI,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воспроизвести</a:t>
            </a:r>
            <a:r>
              <a:rPr dirty="0"/>
              <a:t>, </a:t>
            </a:r>
            <a:r>
              <a:rPr dirty="0" err="1"/>
              <a:t>проверить</a:t>
            </a:r>
            <a:r>
              <a:rPr dirty="0"/>
              <a:t> smoke‑</a:t>
            </a:r>
            <a:r>
              <a:rPr dirty="0" err="1"/>
              <a:t>test’ом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отследить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observability‑</a:t>
            </a:r>
            <a:r>
              <a:rPr dirty="0" err="1"/>
              <a:t>стеке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2191999" cy="6885432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C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748603" cy="4462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900" b="1">
                <a:solidFill>
                  <a:srgbClr val="E8F0F8"/>
                </a:solidFill>
                <a:latin typeface="Aptos Display"/>
              </a:defRPr>
            </a:pPr>
            <a:r>
              <a:rPr dirty="0" err="1"/>
              <a:t>Итог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76656" y="1060704"/>
            <a:ext cx="9692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420" b="0">
                <a:solidFill>
                  <a:srgbClr val="9BAABC"/>
                </a:solidFill>
                <a:latin typeface="Aptos"/>
              </a:defRPr>
            </a:pPr>
            <a:r>
              <a:t>Безопасный NL→SQL: генерация, аудит, исправление и наблюдаемость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81912"/>
            <a:ext cx="10789916" cy="640080"/>
          </a:xfrm>
          <a:prstGeom prst="roundRect">
            <a:avLst/>
          </a:prstGeom>
          <a:solidFill>
            <a:srgbClr val="0A1929"/>
          </a:solidFill>
          <a:ln w="10160">
            <a:solidFill>
              <a:srgbClr val="2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9546" y="1769364"/>
            <a:ext cx="150316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200" b="1">
                <a:solidFill>
                  <a:srgbClr val="2CD3C4"/>
                </a:solidFill>
                <a:latin typeface="Aptos"/>
              </a:defRPr>
            </a:pPr>
            <a:r>
              <a:rPr sz="1400" dirty="0"/>
              <a:t>Главная </a:t>
            </a:r>
            <a:r>
              <a:rPr sz="1400" dirty="0" err="1"/>
              <a:t>ценность</a:t>
            </a:r>
            <a:endParaRPr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520440" y="1764131"/>
            <a:ext cx="728571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750" b="1">
                <a:solidFill>
                  <a:srgbClr val="E8F0F8"/>
                </a:solidFill>
                <a:latin typeface="Aptos"/>
              </a:defRPr>
            </a:pPr>
            <a:r>
              <a:rPr lang="ru-RU" sz="1400" dirty="0"/>
              <a:t>это</a:t>
            </a:r>
            <a:r>
              <a:rPr sz="1400" dirty="0"/>
              <a:t> </a:t>
            </a:r>
            <a:r>
              <a:rPr sz="1400" dirty="0" err="1"/>
              <a:t>не</a:t>
            </a:r>
            <a:r>
              <a:rPr sz="1400" dirty="0"/>
              <a:t> «LLM </a:t>
            </a:r>
            <a:r>
              <a:rPr sz="1400" dirty="0" err="1"/>
              <a:t>пишет</a:t>
            </a:r>
            <a:r>
              <a:rPr sz="1400" dirty="0"/>
              <a:t> SQL», </a:t>
            </a:r>
            <a:r>
              <a:rPr sz="1400" dirty="0" err="1"/>
              <a:t>а</a:t>
            </a:r>
            <a:r>
              <a:rPr sz="1400" dirty="0"/>
              <a:t> </a:t>
            </a:r>
            <a:r>
              <a:rPr sz="1400" dirty="0" err="1"/>
              <a:t>контролируемый</a:t>
            </a:r>
            <a:r>
              <a:rPr sz="1400" dirty="0"/>
              <a:t> security layer </a:t>
            </a:r>
            <a:r>
              <a:rPr sz="1400" dirty="0" err="1"/>
              <a:t>между</a:t>
            </a:r>
            <a:r>
              <a:rPr sz="1400" dirty="0"/>
              <a:t> </a:t>
            </a:r>
            <a:r>
              <a:rPr sz="1400" dirty="0" err="1"/>
              <a:t>пользователем</a:t>
            </a:r>
            <a:r>
              <a:rPr sz="1400" dirty="0"/>
              <a:t> </a:t>
            </a:r>
            <a:r>
              <a:rPr sz="1400" dirty="0" err="1"/>
              <a:t>и</a:t>
            </a:r>
            <a:r>
              <a:rPr sz="1400" dirty="0"/>
              <a:t> БД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053E426-C3D9-FDFF-B85C-043B8998CD4D}"/>
              </a:ext>
            </a:extLst>
          </p:cNvPr>
          <p:cNvGrpSpPr/>
          <p:nvPr/>
        </p:nvGrpSpPr>
        <p:grpSpPr>
          <a:xfrm>
            <a:off x="658368" y="2549832"/>
            <a:ext cx="10789920" cy="2902592"/>
            <a:chOff x="749807" y="2693138"/>
            <a:chExt cx="10552177" cy="2902592"/>
          </a:xfrm>
        </p:grpSpPr>
        <p:sp>
          <p:nvSpPr>
            <p:cNvPr id="9" name="Rounded Rectangle 8"/>
            <p:cNvSpPr/>
            <p:nvPr/>
          </p:nvSpPr>
          <p:spPr>
            <a:xfrm>
              <a:off x="749808" y="2693140"/>
              <a:ext cx="3310128" cy="2902590"/>
            </a:xfrm>
            <a:prstGeom prst="roundRect">
              <a:avLst/>
            </a:prstGeom>
            <a:solidFill>
              <a:srgbClr val="0F2132"/>
            </a:solidFill>
            <a:ln w="10160">
              <a:solidFill>
                <a:srgbClr val="2A41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49807" y="3099816"/>
              <a:ext cx="3310127" cy="347472"/>
            </a:xfrm>
            <a:prstGeom prst="rect">
              <a:avLst/>
            </a:prstGeom>
            <a:solidFill>
              <a:srgbClr val="2FD670"/>
            </a:solidFill>
            <a:ln>
              <a:noFill/>
            </a:ln>
            <a:effectLst>
              <a:glow>
                <a:schemeClr val="accent1">
                  <a:alpha val="40000"/>
                </a:schemeClr>
              </a:glo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47830" y="3148901"/>
              <a:ext cx="2232984" cy="2492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>
                <a:defRPr sz="1620" b="1">
                  <a:solidFill>
                    <a:srgbClr val="E8F0F8"/>
                  </a:solidFill>
                  <a:latin typeface="Aptos"/>
                </a:defRPr>
              </a:pPr>
              <a:r>
                <a:rPr lang="ru-RU" dirty="0"/>
                <a:t>Работа</a:t>
              </a:r>
              <a:r>
                <a:rPr dirty="0"/>
                <a:t> </a:t>
              </a:r>
              <a:r>
                <a:rPr dirty="0" err="1"/>
                <a:t>уже</a:t>
              </a:r>
              <a:r>
                <a:rPr dirty="0"/>
                <a:t> </a:t>
              </a:r>
              <a:r>
                <a:rPr dirty="0" err="1"/>
                <a:t>закрывает</a:t>
              </a:r>
              <a:endParaRPr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89386" y="3653997"/>
              <a:ext cx="2420417" cy="139422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900"/>
                </a:spcAft>
                <a:defRPr sz="1260">
                  <a:solidFill>
                    <a:srgbClr val="9BAABC"/>
                  </a:solidFill>
                  <a:latin typeface="Aptos"/>
                </a:defRPr>
              </a:pPr>
              <a:r>
                <a:rPr dirty="0"/>
                <a:t>• </a:t>
              </a:r>
              <a:r>
                <a:rPr dirty="0" err="1"/>
                <a:t>NL→PostgreSQL</a:t>
              </a:r>
              <a:r>
                <a:rPr dirty="0"/>
                <a:t> </a:t>
              </a:r>
              <a:r>
                <a:rPr dirty="0" err="1"/>
                <a:t>по</a:t>
              </a:r>
              <a:r>
                <a:rPr dirty="0"/>
                <a:t> </a:t>
              </a:r>
              <a:r>
                <a:rPr dirty="0" err="1"/>
                <a:t>схеме</a:t>
              </a:r>
              <a:r>
                <a:rPr dirty="0"/>
                <a:t> </a:t>
              </a:r>
              <a:r>
                <a:rPr dirty="0" err="1"/>
                <a:t>заказчика</a:t>
              </a:r>
              <a:endParaRPr dirty="0"/>
            </a:p>
            <a:p>
              <a:pPr>
                <a:spcAft>
                  <a:spcPts val="900"/>
                </a:spcAft>
                <a:defRPr sz="1260">
                  <a:solidFill>
                    <a:srgbClr val="9BAABC"/>
                  </a:solidFill>
                  <a:latin typeface="Aptos"/>
                </a:defRPr>
              </a:pPr>
              <a:r>
                <a:rPr dirty="0"/>
                <a:t>• </a:t>
              </a:r>
              <a:r>
                <a:rPr dirty="0" err="1"/>
                <a:t>audit_log</a:t>
              </a:r>
              <a:r>
                <a:rPr dirty="0"/>
                <a:t> </a:t>
              </a:r>
              <a:r>
                <a:rPr dirty="0" err="1"/>
                <a:t>и</a:t>
              </a:r>
              <a:r>
                <a:rPr dirty="0"/>
                <a:t> risk score </a:t>
              </a:r>
              <a:r>
                <a:rPr dirty="0" err="1"/>
                <a:t>по</a:t>
              </a:r>
              <a:r>
                <a:rPr dirty="0"/>
                <a:t> </a:t>
              </a:r>
              <a:r>
                <a:rPr dirty="0" err="1"/>
                <a:t>итерациям</a:t>
              </a:r>
              <a:endParaRPr dirty="0"/>
            </a:p>
            <a:p>
              <a:pPr>
                <a:spcAft>
                  <a:spcPts val="900"/>
                </a:spcAft>
                <a:defRPr sz="1260">
                  <a:solidFill>
                    <a:srgbClr val="9BAABC"/>
                  </a:solidFill>
                  <a:latin typeface="Aptos"/>
                </a:defRPr>
              </a:pPr>
              <a:r>
                <a:rPr dirty="0"/>
                <a:t>• clarify / reject </a:t>
              </a:r>
              <a:r>
                <a:rPr dirty="0" err="1"/>
                <a:t>для</a:t>
              </a:r>
              <a:r>
                <a:rPr dirty="0"/>
                <a:t> </a:t>
              </a:r>
              <a:r>
                <a:rPr dirty="0" err="1"/>
                <a:t>опасных</a:t>
              </a:r>
              <a:r>
                <a:rPr dirty="0"/>
                <a:t> </a:t>
              </a:r>
              <a:r>
                <a:rPr dirty="0" err="1"/>
                <a:t>запросов</a:t>
              </a:r>
              <a:endParaRPr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370832" y="2693139"/>
              <a:ext cx="3310128" cy="2902589"/>
            </a:xfrm>
            <a:prstGeom prst="roundRect">
              <a:avLst/>
            </a:prstGeom>
            <a:solidFill>
              <a:srgbClr val="0F2132"/>
            </a:solidFill>
            <a:ln w="10160">
              <a:solidFill>
                <a:srgbClr val="2A41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70830" y="3101592"/>
              <a:ext cx="3310128" cy="354840"/>
            </a:xfrm>
            <a:prstGeom prst="rect">
              <a:avLst/>
            </a:prstGeom>
            <a:solidFill>
              <a:srgbClr val="31B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37932" y="3141919"/>
              <a:ext cx="1775924" cy="2492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620" b="1">
                  <a:solidFill>
                    <a:srgbClr val="E8F0F8"/>
                  </a:solidFill>
                  <a:latin typeface="Aptos"/>
                </a:defRPr>
              </a:pPr>
              <a:r>
                <a:rPr dirty="0" err="1"/>
                <a:t>Сильные</a:t>
              </a:r>
              <a:r>
                <a:rPr dirty="0"/>
                <a:t> </a:t>
              </a:r>
              <a:r>
                <a:rPr dirty="0" err="1"/>
                <a:t>стороны</a:t>
              </a:r>
              <a:endParaRPr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83798" y="3653997"/>
              <a:ext cx="2424098" cy="139422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900"/>
                </a:spcAft>
                <a:defRPr sz="1260">
                  <a:solidFill>
                    <a:srgbClr val="9BAABC"/>
                  </a:solidFill>
                  <a:latin typeface="Aptos"/>
                </a:defRPr>
              </a:pPr>
              <a:r>
                <a:rPr dirty="0"/>
                <a:t>• schema‑grounded context </a:t>
              </a:r>
              <a:r>
                <a:rPr dirty="0" err="1"/>
                <a:t>снижает</a:t>
              </a:r>
              <a:r>
                <a:rPr dirty="0"/>
                <a:t> </a:t>
              </a:r>
              <a:r>
                <a:rPr dirty="0" err="1"/>
                <a:t>галлюцинации</a:t>
              </a:r>
              <a:endParaRPr dirty="0"/>
            </a:p>
            <a:p>
              <a:pPr>
                <a:spcAft>
                  <a:spcPts val="900"/>
                </a:spcAft>
                <a:defRPr sz="1260">
                  <a:solidFill>
                    <a:srgbClr val="9BAABC"/>
                  </a:solidFill>
                  <a:latin typeface="Aptos"/>
                </a:defRPr>
              </a:pPr>
              <a:r>
                <a:rPr dirty="0"/>
                <a:t>• hybrid audit </a:t>
              </a:r>
              <a:r>
                <a:rPr dirty="0" err="1"/>
                <a:t>через</a:t>
              </a:r>
              <a:r>
                <a:rPr dirty="0"/>
                <a:t> rules + sensitive + LLM/RAG</a:t>
              </a:r>
            </a:p>
            <a:p>
              <a:pPr>
                <a:spcAft>
                  <a:spcPts val="900"/>
                </a:spcAft>
                <a:defRPr sz="1260">
                  <a:solidFill>
                    <a:srgbClr val="9BAABC"/>
                  </a:solidFill>
                  <a:latin typeface="Aptos"/>
                </a:defRPr>
              </a:pPr>
              <a:r>
                <a:rPr dirty="0"/>
                <a:t>• reflection </a:t>
              </a:r>
              <a:r>
                <a:rPr dirty="0" err="1"/>
                <a:t>исправляет</a:t>
              </a:r>
              <a:r>
                <a:rPr dirty="0"/>
                <a:t> </a:t>
              </a:r>
              <a:r>
                <a:rPr dirty="0" err="1"/>
                <a:t>ошибки</a:t>
              </a:r>
              <a:r>
                <a:rPr dirty="0"/>
                <a:t> </a:t>
              </a:r>
              <a:r>
                <a:rPr dirty="0" err="1"/>
                <a:t>без</a:t>
              </a:r>
              <a:r>
                <a:rPr dirty="0"/>
                <a:t> </a:t>
              </a:r>
              <a:r>
                <a:rPr dirty="0" err="1"/>
                <a:t>дообучения</a:t>
              </a:r>
              <a:endParaRPr dirty="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991856" y="2693138"/>
              <a:ext cx="3310128" cy="2902589"/>
            </a:xfrm>
            <a:prstGeom prst="roundRect">
              <a:avLst/>
            </a:prstGeom>
            <a:solidFill>
              <a:srgbClr val="0F2132"/>
            </a:solidFill>
            <a:ln w="10160">
              <a:solidFill>
                <a:srgbClr val="2A41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991852" y="3099816"/>
              <a:ext cx="3310128" cy="347472"/>
            </a:xfrm>
            <a:prstGeom prst="rect">
              <a:avLst/>
            </a:prstGeom>
            <a:solidFill>
              <a:srgbClr val="AE8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900074" y="3148902"/>
              <a:ext cx="1563632" cy="2492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620" b="1">
                  <a:solidFill>
                    <a:srgbClr val="E8F0F8"/>
                  </a:solidFill>
                  <a:latin typeface="Aptos"/>
                </a:defRPr>
              </a:pPr>
              <a:r>
                <a:rPr dirty="0" err="1"/>
                <a:t>Задел</a:t>
              </a:r>
              <a:r>
                <a:rPr dirty="0"/>
                <a:t> </a:t>
              </a:r>
              <a:r>
                <a:rPr dirty="0" err="1"/>
                <a:t>развития</a:t>
              </a:r>
              <a:endParaRPr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461166" y="3653997"/>
              <a:ext cx="2441448" cy="120032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900"/>
                </a:spcAft>
                <a:defRPr sz="1260">
                  <a:solidFill>
                    <a:srgbClr val="9BAABC"/>
                  </a:solidFill>
                  <a:latin typeface="Aptos"/>
                </a:defRPr>
              </a:pPr>
              <a:r>
                <a:rPr dirty="0"/>
                <a:t>• AST‑parser </a:t>
              </a:r>
              <a:r>
                <a:rPr dirty="0" err="1"/>
                <a:t>для</a:t>
              </a:r>
              <a:r>
                <a:rPr dirty="0"/>
                <a:t> PostgreSQL </a:t>
              </a:r>
              <a:r>
                <a:rPr dirty="0" err="1"/>
                <a:t>вместо</a:t>
              </a:r>
              <a:r>
                <a:rPr dirty="0"/>
                <a:t> regex</a:t>
              </a:r>
            </a:p>
            <a:p>
              <a:pPr>
                <a:spcAft>
                  <a:spcPts val="900"/>
                </a:spcAft>
                <a:defRPr sz="1260">
                  <a:solidFill>
                    <a:srgbClr val="9BAABC"/>
                  </a:solidFill>
                  <a:latin typeface="Aptos"/>
                </a:defRPr>
              </a:pPr>
              <a:r>
                <a:rPr dirty="0"/>
                <a:t>• </a:t>
              </a:r>
              <a:r>
                <a:rPr dirty="0" err="1"/>
                <a:t>расширение</a:t>
              </a:r>
              <a:r>
                <a:rPr dirty="0"/>
                <a:t> </a:t>
              </a:r>
              <a:r>
                <a:rPr dirty="0" err="1"/>
                <a:t>правил</a:t>
              </a:r>
              <a:r>
                <a:rPr dirty="0"/>
                <a:t>, </a:t>
              </a:r>
              <a:r>
                <a:rPr dirty="0" err="1"/>
                <a:t>CodeBERT</a:t>
              </a:r>
              <a:r>
                <a:rPr dirty="0"/>
                <a:t> </a:t>
              </a:r>
              <a:r>
                <a:rPr dirty="0" err="1"/>
                <a:t>и</a:t>
              </a:r>
              <a:r>
                <a:rPr dirty="0"/>
                <a:t> RAG</a:t>
              </a:r>
            </a:p>
            <a:p>
              <a:pPr>
                <a:spcAft>
                  <a:spcPts val="900"/>
                </a:spcAft>
                <a:defRPr sz="1260">
                  <a:solidFill>
                    <a:srgbClr val="9BAABC"/>
                  </a:solidFill>
                  <a:latin typeface="Aptos"/>
                </a:defRPr>
              </a:pPr>
              <a:r>
                <a:rPr dirty="0"/>
                <a:t>• </a:t>
              </a:r>
              <a:r>
                <a:rPr dirty="0" err="1"/>
                <a:t>vLLM</a:t>
              </a:r>
              <a:r>
                <a:rPr dirty="0"/>
                <a:t> / k8s / per‑user memory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536214" y="782483"/>
            <a:ext cx="42976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50" b="0">
                <a:solidFill>
                  <a:srgbClr val="9BAABC"/>
                </a:solidFill>
                <a:latin typeface="Aptos"/>
              </a:defRPr>
            </a:pP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DementievWoW</a:t>
            </a:r>
            <a:r>
              <a:rPr dirty="0"/>
              <a:t>/practicum2026_case3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3017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 b="0">
                <a:solidFill>
                  <a:srgbClr val="9BAABC"/>
                </a:solidFill>
                <a:latin typeface="Aptos"/>
              </a:defRPr>
            </a:pPr>
            <a:r>
              <a:t>SQL Security · Multi‑Agent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82492" y="6492240"/>
            <a:ext cx="12182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0">
                <a:solidFill>
                  <a:srgbClr val="9BAABC"/>
                </a:solidFill>
                <a:latin typeface="Aptos"/>
              </a:defRPr>
            </a:pPr>
            <a:r>
              <a:rPr dirty="0"/>
              <a:t>1</a:t>
            </a:r>
            <a:r>
              <a:rPr lang="ru-RU" dirty="0"/>
              <a:t>5</a:t>
            </a:r>
            <a:endParaRPr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E744B7-CF05-F72D-58FF-DC103524E9D8}"/>
              </a:ext>
            </a:extLst>
          </p:cNvPr>
          <p:cNvCxnSpPr/>
          <p:nvPr/>
        </p:nvCxnSpPr>
        <p:spPr>
          <a:xfrm>
            <a:off x="2604052" y="1888435"/>
            <a:ext cx="655983" cy="0"/>
          </a:xfrm>
          <a:prstGeom prst="straightConnector1">
            <a:avLst/>
          </a:prstGeom>
          <a:ln w="19050">
            <a:solidFill>
              <a:srgbClr val="2BD3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1417</Words>
  <Application>Microsoft Macintosh PowerPoint</Application>
  <PresentationFormat>Widescreen</PresentationFormat>
  <Paragraphs>298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Security Multi-Agent</dc:title>
  <dc:subject>SQL Security Multi-Agent project presentation</dc:subject>
  <dc:creator>OpenAI</dc:creator>
  <cp:lastModifiedBy>Alena Freydina</cp:lastModifiedBy>
  <cp:revision>19</cp:revision>
  <dcterms:created xsi:type="dcterms:W3CDTF">2026-05-31T19:00:37Z</dcterms:created>
  <dcterms:modified xsi:type="dcterms:W3CDTF">2026-05-31T20:34:21Z</dcterms:modified>
</cp:coreProperties>
</file>